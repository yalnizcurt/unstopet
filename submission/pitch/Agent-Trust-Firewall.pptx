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db3aeeb996d4de5" /><Relationship Type="http://schemas.openxmlformats.org/officeDocument/2006/relationships/extended-properties" Target="/docProps/app.xml" Id="R156261521bab4ab8" /><Relationship Type="http://schemas.openxmlformats.org/officeDocument/2006/relationships/officeDocument" Target="/ppt/presentation.xml" Id="Rc5ef4155ac5d4976" /></Relationships>
</file>

<file path=ppt/presentation.xml><?xml version="1.0" encoding="utf-8"?>
<p:presentation xmlns:p="http://schemas.openxmlformats.org/presentationml/2006/main">
  <p:sldMasterIdLst>
    <p:sldMasterId xmlns:r="http://schemas.openxmlformats.org/officeDocument/2006/relationships" id="2147483648" r:id="R68bc2a3576ad4bb5"/>
  </p:sldMasterIdLst>
  <p:notesMasterIdLst>
    <p:notesMasterId xmlns:r="http://schemas.openxmlformats.org/officeDocument/2006/relationships" r:id="R9cd4c6a60aba46c3"/>
  </p:notesMasterIdLst>
  <p:sldIdLst>
    <p:sldId xmlns:r="http://schemas.openxmlformats.org/officeDocument/2006/relationships" id="256" r:id="R4d78757b6e7d4260"/>
    <p:sldId xmlns:r="http://schemas.openxmlformats.org/officeDocument/2006/relationships" id="257" r:id="R6957bdb002ba4a16"/>
    <p:sldId xmlns:r="http://schemas.openxmlformats.org/officeDocument/2006/relationships" id="258" r:id="Rac4c2ef900184434"/>
    <p:sldId xmlns:r="http://schemas.openxmlformats.org/officeDocument/2006/relationships" id="259" r:id="Rdc988c17b4ff4ea4"/>
    <p:sldId xmlns:r="http://schemas.openxmlformats.org/officeDocument/2006/relationships" id="260" r:id="R1df39b5fa87a404f"/>
    <p:sldId xmlns:r="http://schemas.openxmlformats.org/officeDocument/2006/relationships" id="261" r:id="R3ddeec62dcf34277"/>
    <p:sldId xmlns:r="http://schemas.openxmlformats.org/officeDocument/2006/relationships" id="262" r:id="R6fab0a53fd284df6"/>
    <p:sldId xmlns:r="http://schemas.openxmlformats.org/officeDocument/2006/relationships" id="263" r:id="Ra07a773206f34295"/>
    <p:sldId xmlns:r="http://schemas.openxmlformats.org/officeDocument/2006/relationships" id="264" r:id="R7bb74c4534604e55"/>
    <p:sldId xmlns:r="http://schemas.openxmlformats.org/officeDocument/2006/relationships" id="265" r:id="Rb9f1a7bac9654983"/>
    <p:sldId xmlns:r="http://schemas.openxmlformats.org/officeDocument/2006/relationships" id="266" r:id="Rdf42d44e3843472e"/>
    <p:sldId xmlns:r="http://schemas.openxmlformats.org/officeDocument/2006/relationships" id="267" r:id="R2a0fe59627ea465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ce1d8ff3c764450" /><Relationship Type="http://schemas.openxmlformats.org/officeDocument/2006/relationships/slideMaster" Target="/ppt/slideMasters/slideMaster1.xml" Id="R68bc2a3576ad4bb5" /><Relationship Type="http://schemas.openxmlformats.org/officeDocument/2006/relationships/notesMaster" Target="/ppt/notesMasters/notesMaster1.xml" Id="R9cd4c6a60aba46c3" /><Relationship Type="http://schemas.openxmlformats.org/officeDocument/2006/relationships/presProps" Target="/ppt/presProps.xml" Id="R3ab3fb3fa71d4826" /><Relationship Type="http://schemas.openxmlformats.org/officeDocument/2006/relationships/tableStyles" Target="/ppt/tableStyles.xml" Id="R1c61b6031bbd4f85" /><Relationship Type="http://schemas.openxmlformats.org/officeDocument/2006/relationships/slide" Target="/ppt/slides/slide1.xml" Id="R4d78757b6e7d4260" /><Relationship Type="http://schemas.openxmlformats.org/officeDocument/2006/relationships/slide" Target="/ppt/slides/slide2.xml" Id="R6957bdb002ba4a16" /><Relationship Type="http://schemas.openxmlformats.org/officeDocument/2006/relationships/slide" Target="/ppt/slides/slide3.xml" Id="Rac4c2ef900184434" /><Relationship Type="http://schemas.openxmlformats.org/officeDocument/2006/relationships/slide" Target="/ppt/slides/slide4.xml" Id="Rdc988c17b4ff4ea4" /><Relationship Type="http://schemas.openxmlformats.org/officeDocument/2006/relationships/slide" Target="/ppt/slides/slide5.xml" Id="R1df39b5fa87a404f" /><Relationship Type="http://schemas.openxmlformats.org/officeDocument/2006/relationships/slide" Target="/ppt/slides/slide6.xml" Id="R3ddeec62dcf34277" /><Relationship Type="http://schemas.openxmlformats.org/officeDocument/2006/relationships/slide" Target="/ppt/slides/slide7.xml" Id="R6fab0a53fd284df6" /><Relationship Type="http://schemas.openxmlformats.org/officeDocument/2006/relationships/slide" Target="/ppt/slides/slide8.xml" Id="Ra07a773206f34295" /><Relationship Type="http://schemas.openxmlformats.org/officeDocument/2006/relationships/slide" Target="/ppt/slides/slide9.xml" Id="R7bb74c4534604e55" /><Relationship Type="http://schemas.openxmlformats.org/officeDocument/2006/relationships/slide" Target="/ppt/slides/slide10.xml" Id="Rb9f1a7bac9654983" /><Relationship Type="http://schemas.openxmlformats.org/officeDocument/2006/relationships/slide" Target="/ppt/slides/slide11.xml" Id="Rdf42d44e3843472e" /><Relationship Type="http://schemas.openxmlformats.org/officeDocument/2006/relationships/slide" Target="/ppt/slides/slide12.xml" Id="R2a0fe59627ea465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a8d7543a4645b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d97a2c1abb42b2" /><Relationship Type="http://schemas.openxmlformats.org/officeDocument/2006/relationships/notesMaster" Target="/ppt/notesMasters/notesMaster1.xml" Id="R90505fe86c1349a2" /></Relationships>
</file>

<file path=ppt/notesSlides/_rels/notesSlide2.xml.rels>&#65279;<?xml version="1.0" encoding="utf-8"?><Relationships xmlns="http://schemas.openxmlformats.org/package/2006/relationships"><Relationship Type="http://schemas.openxmlformats.org/officeDocument/2006/relationships/slide" Target="/ppt/slides/slide2.xml" Id="R8bcf7feff0584680" /><Relationship Type="http://schemas.openxmlformats.org/officeDocument/2006/relationships/notesMaster" Target="/ppt/notesMasters/notesMaster1.xml" Id="R5f7af612e1f949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9e76feb5d9b446c" /><Relationship Type="http://schemas.openxmlformats.org/officeDocument/2006/relationships/notesMaster" Target="/ppt/notesMasters/notesMaster1.xml" Id="Rd2982b888d384112" /></Relationships>
</file>

<file path=ppt/notesSlides/_rels/notesSlide4.xml.rels>&#65279;<?xml version="1.0" encoding="utf-8"?><Relationships xmlns="http://schemas.openxmlformats.org/package/2006/relationships"><Relationship Type="http://schemas.openxmlformats.org/officeDocument/2006/relationships/slide" Target="/ppt/slides/slide4.xml" Id="Ra76b77dfb5444dd3" /><Relationship Type="http://schemas.openxmlformats.org/officeDocument/2006/relationships/notesMaster" Target="/ppt/notesMasters/notesMaster1.xml" Id="R10cfd18193d34f9b" /></Relationships>
</file>

<file path=ppt/notesSlides/_rels/notesSlide5.xml.rels>&#65279;<?xml version="1.0" encoding="utf-8"?><Relationships xmlns="http://schemas.openxmlformats.org/package/2006/relationships"><Relationship Type="http://schemas.openxmlformats.org/officeDocument/2006/relationships/slide" Target="/ppt/slides/slide5.xml" Id="R440aec7719064cd7" /><Relationship Type="http://schemas.openxmlformats.org/officeDocument/2006/relationships/notesMaster" Target="/ppt/notesMasters/notesMaster1.xml" Id="R2d7fafa0bcc24166"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1906f396c445a7" /><Relationship Type="http://schemas.openxmlformats.org/officeDocument/2006/relationships/notesMaster" Target="/ppt/notesMasters/notesMaster1.xml" Id="R05f807bd099d422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248a142382945f9" /><Relationship Type="http://schemas.openxmlformats.org/officeDocument/2006/relationships/notesMaster" Target="/ppt/notesMasters/notesMaster1.xml" Id="Reb490063c974476b" /></Relationships>
</file>

<file path=ppt/notesSlides/_rels/notesSlide8.xml.rels>&#65279;<?xml version="1.0" encoding="utf-8"?><Relationships xmlns="http://schemas.openxmlformats.org/package/2006/relationships"><Relationship Type="http://schemas.openxmlformats.org/officeDocument/2006/relationships/slide" Target="/ppt/slides/slide8.xml" Id="Ref064f43c43245d5" /><Relationship Type="http://schemas.openxmlformats.org/officeDocument/2006/relationships/notesMaster" Target="/ppt/notesMasters/notesMaster1.xml" Id="Rf060576764124c30" /></Relationships>
</file>

<file path=ppt/notesSlides/_rels/notesSlide9.xml.rels>&#65279;<?xml version="1.0" encoding="utf-8"?><Relationships xmlns="http://schemas.openxmlformats.org/package/2006/relationships"><Relationship Type="http://schemas.openxmlformats.org/officeDocument/2006/relationships/slide" Target="/ppt/slides/slide9.xml" Id="R102ba673f1584b25" /><Relationship Type="http://schemas.openxmlformats.org/officeDocument/2006/relationships/notesMaster" Target="/ppt/notesMasters/notesMaster1.xml" Id="Raf402c34260345e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6eca3fee9bd4d95" /><Relationship Type="http://schemas.openxmlformats.org/officeDocument/2006/relationships/notesMaster" Target="/ppt/notesMasters/notesMaster1.xml" Id="Rabc3b3c06f8b436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2ba562beb3945cb" /><Relationship Type="http://schemas.openxmlformats.org/officeDocument/2006/relationships/notesMaster" Target="/ppt/notesMasters/notesMaster1.xml" Id="R75e8a536a4e246f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dbd998705594177" /><Relationship Type="http://schemas.openxmlformats.org/officeDocument/2006/relationships/notesMaster" Target="/ppt/notesMasters/notesMaster1.xml" Id="Rc681b2ce4dae4a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capabilities and limits derive from the current repository and measured production report. Team identity must be confirmed before submission. Do not claim certification, universal protection, or verified enterprise tenancy.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Forecast: https://www.gartner.com/en/newsroom/press-releases/2025-08-26-gartner-predicts-40-percent-of-enterprise-apps-will-feature-task-specific-ai-agents-by-2026-up-from-less-than-5-percent-in-2025</a:t>
            </a:r>
          </a:p>
          <a:p xmlns:a="http://schemas.openxmlformats.org/drawingml/2006/main">
            <a:r>
              <a:t>Observed study: https://newsroom.ibm.com/2025-07-30-ibm-report-13-of-organizations-reported-breaches-of-ai-models-or-applications,-97-of-which-reported-lacking-proper-ai-access-controls</a:t>
            </a:r>
          </a:p>
          <a:p xmlns:a="http://schemas.openxmlformats.org/drawingml/2006/main">
            <a:r>
              <a:t>IBM study covers breaches at 600 organizations from March 2024 through February 2025. The 97% figure is conditional on the AI-breach subgroup, not all organizations or all AI systems. Reverified 11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 https://www.gartner.com/en/newsroom/press-releases/2026-08-26-gartner-forecasts-the-market-for-securing-ai-will-reach-almost-5-billion-in-2027</a:t>
            </a:r>
          </a:p>
          <a:p xmlns:a="http://schemas.openxmlformats.org/drawingml/2006/main">
            <a:r>
              <a:t>Gartner says almost $4.8bn in 2027 and almost $7.7bn in 2028. Rounded published forecasts, not observed revenue, startup valuation, or ATF TAM. The proposed buyer and initial product opportunity are our hypotheses, not validated customer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Scenario is the committed synthetic supplier workbook. It contains real test facts and a hidden instruction that requests a wrong-vendor result and email. Unauthorized email evidence in the demo is an explicitly labelled forced-compromise probe, not a claim that the model proposed an email.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two controls reduce exposure but cannot guarantee prompt-injection resistance. The server-owned execution broker validates permissions, exact resources and payloads at dispatch. Runtime isolation is necessary to prevent alternate tool/network/filesystem paths. Evidence comes from Linux acceptance and production traces.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screenshot: docs/assets/platform-integrations.png, capture source 748a60d. The Python SDK is a hosted-runtime client without model credentials. Inspection-only clients receive inspection decisions and do not inherit runtime enforcement. A product registration is not arbitrary external agent onboarding.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Editable architecture diagram. Server-owned context snapshots and gateway roles prevent agent messages from creating authority. Broker proposals have exact profile schemas. Approved receipts pass through the shared inspection pipeline and a new snapshot. Isolated child lacks direct network/filesystem/shell/credentials/MCP access. Memory is disabled. Tool and final outputs receive policy/DLP checks. Server audit associates sources and run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artifact screenshot docs/assets/platform-artifact.png, source 748a60d. It shows the original inert instruction beside released quarantine marker. Price units are missing in the source fixtures and must remain unspecified. Procurement real workflow in the report uses two actual generation requests and deterministic score_suppliers. The artifact image is historical UI proof, not a new model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screenshots are real product captures. Actual historical product captures, 10–11 October 2026. Capture versions appear in source notes.</a:t>
            </a:r>
          </a:p>
          <a:p xmlns:a="http://schemas.openxmlformats.org/drawingml/2006/main">
            <a:r>
              <a:t>Runtime denial is labelled FORCED_COMPROMISE_PROBE_NOT_MODEL_OUTPUT. A synthetic test trace does not prove a model attempted email or external execution. Public walkthrough is read-only; protected operations still require authorization.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First-use source: evaluation/heldout/routed-classifier-report-v1.json. Corpus SHA256 96866dc1a535da98b037bc1e4cbe7692fe8948672e1f94d1d1dd136e9e2fafd5. 48 attacks and 16 benign cases: B and C both TP4/FN44/FP6/TN10, detection recall 8.3% and benign false-positive rate 37.5%. 32 public MIT-licensed InjecAgent tool-output payloads yield zero detections. This is a fixed subset inspection study, not full benchmark replication, proof of model-training novelty, or agent-level prevention. No rules/threshold tuning followed corpus freeze. C makes 11 real classifier calls, 502 tokens, 2.199 seconds total classifier time, zero provider errors and zero incremental detections. p95 latency is nearest-rank over the 64 inspection requests per cohort, not a hosted generation SLO.</a:t>
            </a:r>
          </a:p>
          <a:p xmlns:a="http://schemas.openxmlformats.org/drawingml/2006/main">
            <a:r>
              <a:t>Separate authored hosted report: integration-platform-production-report.json, source 8a412ab, Groq openai/gpt-oss-120b, 9 attacks and one benign fixture under A/B/C. B7/9 detection, C8/9, both 10/10 authorized task success. Baseline A has one observed wrong-vendor objective, four scorable preventions and four unknown attack outcomes. Twenty independent forced probes deny unauthorized email preparation; these are not model-generated action attempts.</a:t>
            </a:r>
          </a:p>
          <a:p xmlns:a="http://schemas.openxmlformats.org/drawingml/2006/main">
            <a:r>
              <a:t>Familiar 168-case matrix: 28 authored payloads x six formats, 84 attack wrappers and 84 benign wrappers, deterministic detection66/84 and benign flags0/84. It is not independent or held-out. The general detection and false-positive reliability targets are not met.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external purchasing, emailing, production repository mutation, persistent memory, or autonomous web search is enabled. Browser convenience cannot bypass authorization. Six supported format families have profile-specific channels and unsupported regions, not universal file inspection. Shared demo identity and in-memory retention are explicit prototype limits. Scalability and commercial adoption are future hypotheses.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https://agent-trust-firewall.vercel.app</a:t>
            </a:r>
          </a:p>
          <a:p xmlns:a="http://schemas.openxmlformats.org/drawingml/2006/main">
            <a:r>
              <a:t>Repository: https://github.com/yalnizcurt/unstopET</a:t>
            </a:r>
          </a:p>
          <a:p xmlns:a="http://schemas.openxmlformats.org/drawingml/2006/main">
            <a:r>
              <a:t>Team name, names and contributions need human confirmation before final submission. Roadmap is proposed work, not implemented coverage. No universal-protection or F3/D2 achievement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d1286e565f546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983471ce6646cf" /><Relationship Type="http://schemas.openxmlformats.org/officeDocument/2006/relationships/slideLayout" Target="/ppt/slideLayouts/slideLayout1.xml" Id="R04f431581437469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4f431581437469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62a87825ea84831" /><Relationship Type="http://schemas.openxmlformats.org/officeDocument/2006/relationships/notesSlide" Target="/ppt/notesSlides/notesSlide1.xml" Id="Rf7510443dcda428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a65c583950d4587" /><Relationship Type="http://schemas.openxmlformats.org/officeDocument/2006/relationships/notesSlide" Target="/ppt/notesSlides/notesSlide2.xml" Id="Rab3ec47aae6446d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f05ca94ba8d44e9" /><Relationship Type="http://schemas.openxmlformats.org/officeDocument/2006/relationships/chart" Target="/ppt/slides/charts/chart1.xml" Id="R0f54246e6c72435f" /><Relationship Type="http://schemas.openxmlformats.org/officeDocument/2006/relationships/notesSlide" Target="/ppt/notesSlides/notesSlide3.xml" Id="Rba54def57c954cb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e0aec6d3fcb4835" /><Relationship Type="http://schemas.openxmlformats.org/officeDocument/2006/relationships/notesSlide" Target="/ppt/notesSlides/notesSlide4.xml" Id="R9cea6c62b6294c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89fc97272af4504" /><Relationship Type="http://schemas.openxmlformats.org/officeDocument/2006/relationships/notesSlide" Target="/ppt/notesSlides/notesSlide5.xml" Id="Rcdebf649d20e4b1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63ae9614ad04077" /><Relationship Type="http://schemas.openxmlformats.org/officeDocument/2006/relationships/image" Target="/ppt/media/image.jpeg" Id="R0fb245abcc6d4e84" /><Relationship Type="http://schemas.openxmlformats.org/officeDocument/2006/relationships/notesSlide" Target="/ppt/notesSlides/notesSlide6.xml" Id="R4d6e7f60181a481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99a8229cfc741a1" /><Relationship Type="http://schemas.openxmlformats.org/officeDocument/2006/relationships/notesSlide" Target="/ppt/notesSlides/notesSlide7.xml" Id="Rd91e2929f96b429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8a6bd78b6344ca9" /><Relationship Type="http://schemas.openxmlformats.org/officeDocument/2006/relationships/image" Target="/ppt/media/image2.jpeg" Id="R82437f53df34440c" /><Relationship Type="http://schemas.openxmlformats.org/officeDocument/2006/relationships/notesSlide" Target="/ppt/notesSlides/notesSlide8.xml" Id="R9bd8e0138904458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fdfe4be46f04797" /><Relationship Type="http://schemas.openxmlformats.org/officeDocument/2006/relationships/image" Target="/ppt/media/image3.jpeg" Id="Rbb8aacb2cbf14f6a" /><Relationship Type="http://schemas.openxmlformats.org/officeDocument/2006/relationships/image" Target="/ppt/media/image4.jpeg" Id="R59e7078890ff48f9" /><Relationship Type="http://schemas.openxmlformats.org/officeDocument/2006/relationships/image" Target="/ppt/media/image5.jpeg" Id="R6d6ea3a646e149c6" /><Relationship Type="http://schemas.openxmlformats.org/officeDocument/2006/relationships/image" Target="/ppt/media/image6.jpeg" Id="Rd0f19a1a37364593" /><Relationship Type="http://schemas.openxmlformats.org/officeDocument/2006/relationships/notesSlide" Target="/ppt/notesSlides/notesSlide9.xml" Id="R10d5777505f84ca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fcd09fe75e5420b" /><Relationship Type="http://schemas.openxmlformats.org/officeDocument/2006/relationships/notesSlide" Target="/ppt/notesSlides/notesSlide10.xml" Id="R486d5abaf4424e3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93c41317edf4b0d" /><Relationship Type="http://schemas.openxmlformats.org/officeDocument/2006/relationships/notesSlide" Target="/ppt/notesSlides/notesSlide11.xml" Id="R16bbc69f6e704fc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912c9044ea749e3" /><Relationship Type="http://schemas.openxmlformats.org/officeDocument/2006/relationships/notesSlide" Target="/ppt/notesSlides/notesSlide12.xml" Id="Rd4cb3e075eac446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Global securing-AI spending forecast (USD bn)</c:v>
          </c:tx>
          <c:spPr>
            <a:solidFill xmlns:a="http://schemas.openxmlformats.org/drawingml/2006/main">
              <a:srgbClr val="177F6E"/>
            </a:solidFill>
          </c:spPr>
          <c:cat>
            <c:numRef>
              <c:f>'Chart Data'!$A$2:$A$3</c:f>
              <c:numCache>
                <c:formatCode>General</c:formatCode>
                <c:ptCount val="2"/>
                <c:pt idx="0">
                  <c:v>2027</c:v>
                </c:pt>
                <c:pt idx="1">
                  <c:v>2028</c:v>
                </c:pt>
              </c:numCache>
            </c:numRef>
          </c:cat>
          <c:val>
            <c:numRef>
              <c:f>'Chart Data'!$B$2:$B$3</c:f>
              <c:numCache>
                <c:formatCode>0.0</c:formatCode>
                <c:ptCount val="2"/>
                <c:pt idx="0">
                  <c:v>4.8</c:v>
                </c:pt>
                <c:pt idx="1">
                  <c:v>7.7</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2232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22328"/>
                </a:solidFill>
                <a:latin typeface="Helvetica Neue"/>
                <a:ea typeface="Helvetica Neue"/>
                <a:cs typeface="Helvetica Neue"/>
              </a:defRPr>
            </a:pPr>
          </a:p>
        </c:txPr>
        <c:crossAx val="48672768"/>
      </c:catAx>
      <c:valAx>
        <c:axId val="48672768"/>
        <c:scaling>
          <c:orientation val="minMax"/>
          <c:max val="8"/>
          <c:min val="0"/>
        </c:scaling>
        <c:delete val="0"/>
        <c:axPos val="l"/>
        <c:majorGridlines>
          <c:spPr>
            <a:ln xmlns:a="http://schemas.openxmlformats.org/drawingml/2006/main" w="9525">
              <a:solidFill>
                <a:srgbClr val="C1D2D5"/>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USD billions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465D65"/>
                </a:solidFill>
                <a:latin typeface="Helvetica Neue"/>
                <a:ea typeface="Helvetica Neue"/>
                <a:cs typeface="Helvetica Neue"/>
              </a:defRPr>
            </a:pPr>
          </a:p>
        </c:txPr>
        <c:crossAx val="48650112"/>
        <c:crossBetween val="between"/>
        <c:majorUnit val="2"/>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42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55DE016-9197-4D76-8E6B-D8B746FDFF69}"/>
              </a:ext>
            </a:extLst>
          </p:cNvPr>
          <p:cNvSpPr>
            <a:spLocks xmlns:a="http://schemas.openxmlformats.org/drawingml/2006/main" noGrp="1"/>
          </p:cNvSpPr>
          <p:nvPr/>
        </p:nvSpPr>
        <p:spPr>
          <a:xfrm xmlns:a="http://schemas.openxmlformats.org/drawingml/2006/main">
            <a:off x="685800" y="1257300"/>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75" b="1">
                <a:solidFill>
                  <a:srgbClr val="FFFFFF"/>
                </a:solidFill>
                <a:latin typeface="Helvetica Neue"/>
                <a:ea typeface="Helvetica Neue"/>
                <a:cs typeface="Helvetica Neue"/>
              </a:defRPr>
            </a:pPr>
            <a:r>
              <a:rPr sz="5775" b="1">
                <a:solidFill>
                  <a:srgbClr val="FFFFFF"/>
                </a:solidFill>
                <a:latin typeface="Helvetica Neue"/>
                <a:ea typeface="Helvetica Neue"/>
                <a:cs typeface="Helvetica Neue"/>
              </a:rPr>
              <a:t>Agent Trust</a:t>
            </a:r>
          </a:p>
          <a:p xmlns:a="http://schemas.openxmlformats.org/drawingml/2006/main">
            <a:pPr>
              <a:defRPr sz="5775" b="1">
                <a:solidFill>
                  <a:srgbClr val="FFFFFF"/>
                </a:solidFill>
                <a:latin typeface="Helvetica Neue"/>
                <a:ea typeface="Helvetica Neue"/>
                <a:cs typeface="Helvetica Neue"/>
              </a:defRPr>
            </a:pPr>
            <a:r>
              <a:rPr sz="5775" b="1">
                <a:solidFill>
                  <a:srgbClr val="FFFFFF"/>
                </a:solidFill>
                <a:latin typeface="Helvetica Neue"/>
                <a:ea typeface="Helvetica Neue"/>
                <a:cs typeface="Helvetica Neue"/>
              </a:rPr>
              <a:t>Firewall</a:t>
            </a:r>
          </a:p>
        </p:txBody>
      </p:sp>
      <p:sp>
        <p:nvSpPr>
          <p:cNvPr id="2" name="">
            <a:extLst xmlns:a="http://schemas.openxmlformats.org/drawingml/2006/main">
              <a:ext uri="{FF2B5EF4-FFF2-40B4-BE49-F238E27FC236}">
                <a16:creationId xmlns:a16="http://schemas.microsoft.com/office/drawing/2014/main" id="{481A1C71-D18A-40CB-9299-A57E7B28A171}"/>
              </a:ext>
            </a:extLst>
          </p:cNvPr>
          <p:cNvSpPr>
            <a:spLocks xmlns:a="http://schemas.openxmlformats.org/drawingml/2006/main" noGrp="1"/>
          </p:cNvSpPr>
          <p:nvPr/>
        </p:nvSpPr>
        <p:spPr>
          <a:xfrm xmlns:a="http://schemas.openxmlformats.org/drawingml/2006/main">
            <a:off x="742950" y="3409950"/>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A7E5D6"/>
                </a:solidFill>
                <a:latin typeface="Helvetica Neue"/>
                <a:ea typeface="Helvetica Neue"/>
                <a:cs typeface="Helvetica Neue"/>
              </a:defRPr>
            </a:pPr>
            <a:r>
              <a:rPr sz="2325" b="0">
                <a:solidFill>
                  <a:srgbClr val="A7E5D6"/>
                </a:solidFill>
                <a:latin typeface="Helvetica Neue"/>
                <a:ea typeface="Helvetica Neue"/>
                <a:cs typeface="Helvetica Neue"/>
              </a:rPr>
              <a:t>Security controls for AI agents at every trust boundary</a:t>
            </a:r>
          </a:p>
        </p:txBody>
      </p:sp>
      <p:sp>
        <p:nvSpPr>
          <p:cNvPr id="3" name="">
            <a:extLst xmlns:a="http://schemas.openxmlformats.org/drawingml/2006/main">
              <a:ext uri="{FF2B5EF4-FFF2-40B4-BE49-F238E27FC236}">
                <a16:creationId xmlns:a16="http://schemas.microsoft.com/office/drawing/2014/main" id="{EF23A645-9049-4172-B0AC-A0EF1422F9ED}"/>
              </a:ext>
            </a:extLst>
          </p:cNvPr>
          <p:cNvSpPr>
            <a:spLocks xmlns:a="http://schemas.openxmlformats.org/drawingml/2006/main" noGrp="1"/>
          </p:cNvSpPr>
          <p:nvPr/>
        </p:nvSpPr>
        <p:spPr>
          <a:xfrm xmlns:a="http://schemas.openxmlformats.org/drawingml/2006/main">
            <a:off x="742950" y="5162550"/>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TEAM NAME TO CONFIRM</a:t>
            </a:r>
          </a:p>
        </p:txBody>
      </p:sp>
      <p:sp>
        <p:nvSpPr>
          <p:cNvPr id="4" name="">
            <a:extLst xmlns:a="http://schemas.openxmlformats.org/drawingml/2006/main">
              <a:ext uri="{FF2B5EF4-FFF2-40B4-BE49-F238E27FC236}">
                <a16:creationId xmlns:a16="http://schemas.microsoft.com/office/drawing/2014/main" id="{3A500A0A-8E96-4DFE-AD36-B6CEA8B1CC95}"/>
              </a:ext>
            </a:extLst>
          </p:cNvPr>
          <p:cNvSpPr>
            <a:spLocks xmlns:a="http://schemas.openxmlformats.org/drawingml/2006/main" noGrp="1"/>
          </p:cNvSpPr>
          <p:nvPr/>
        </p:nvSpPr>
        <p:spPr>
          <a:xfrm xmlns:a="http://schemas.openxmlformats.org/drawingml/2006/main">
            <a:off x="742950" y="5572125"/>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ED0D5"/>
                </a:solidFill>
                <a:latin typeface="Helvetica Neue"/>
                <a:ea typeface="Helvetica Neue"/>
                <a:cs typeface="Helvetica Neue"/>
              </a:defRPr>
            </a:pPr>
            <a:r>
              <a:rPr sz="1575" b="0">
                <a:solidFill>
                  <a:srgbClr val="BED0D5"/>
                </a:solidFill>
                <a:latin typeface="Helvetica Neue"/>
                <a:ea typeface="Helvetica Neue"/>
                <a:cs typeface="Helvetica Neue"/>
              </a:rPr>
              <a:t>MEMBERS AND CONTRIBUTIONS TO CONFIRM</a:t>
            </a:r>
          </a:p>
        </p:txBody>
      </p:sp>
      <p:sp>
        <p:nvSpPr>
          <p:cNvPr id="5" name="">
            <a:extLst xmlns:a="http://schemas.openxmlformats.org/drawingml/2006/main">
              <a:ext uri="{FF2B5EF4-FFF2-40B4-BE49-F238E27FC236}">
                <a16:creationId xmlns:a16="http://schemas.microsoft.com/office/drawing/2014/main" id="{B299C36B-175C-4B0F-8786-97A4636169AA}"/>
              </a:ext>
            </a:extLst>
          </p:cNvPr>
          <p:cNvSpPr>
            <a:spLocks xmlns:a="http://schemas.openxmlformats.org/drawingml/2006/main" noGrp="1"/>
          </p:cNvSpPr>
          <p:nvPr/>
        </p:nvSpPr>
        <p:spPr>
          <a:xfrm xmlns:a="http://schemas.openxmlformats.org/drawingml/2006/main">
            <a:off x="742950" y="63436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ED0D5"/>
                </a:solidFill>
                <a:latin typeface="Helvetica Neue"/>
                <a:ea typeface="Helvetica Neue"/>
                <a:cs typeface="Helvetica Neue"/>
              </a:defRPr>
            </a:pPr>
            <a:r>
              <a:rPr sz="1200" b="0">
                <a:solidFill>
                  <a:srgbClr val="BED0D5"/>
                </a:solidFill>
                <a:latin typeface="Helvetica Neue"/>
                <a:ea typeface="Helvetica Neue"/>
                <a:cs typeface="Helvetica Neue"/>
              </a:rPr>
              <a:t>Working prototype   11 October 2026</a:t>
            </a:r>
          </a:p>
        </p:txBody>
      </p:sp>
    </p:spTree>
    <p:extLst>
      <p:ext uri="{BB962C8B-B14F-4D97-AF65-F5344CB8AC3E}">
        <p14:creationId xmlns:p14="http://schemas.microsoft.com/office/powerpoint/2010/main" val="1958922448"/>
      </p:ext>
    </p:extLst>
  </p:cSld>
</p:sld>
</file>

<file path=ppt/slides/slide2.xml><?xml version="1.0" encoding="utf-8"?>
<p:sld xmlns:p="http://schemas.openxmlformats.org/presentationml/2006/main">
  <p:cSld>
    <p:bg>
      <p:bgPr>
        <a:solidFill xmlns:a="http://schemas.openxmlformats.org/drawingml/2006/main">
          <a:srgbClr val="F5F8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4EACCE4-618B-4925-AB98-8C533BAC9075}"/>
              </a:ext>
            </a:extLst>
          </p:cNvPr>
          <p:cNvSpPr>
            <a:spLocks xmlns:a="http://schemas.openxmlformats.org/drawingml/2006/main" noGrp="1"/>
          </p:cNvSpPr>
          <p:nvPr/>
        </p:nvSpPr>
        <p:spPr>
          <a:xfrm xmlns:a="http://schemas.openxmlformats.org/drawingml/2006/main">
            <a:off x="609600" y="438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22328"/>
                </a:solidFill>
                <a:latin typeface="Helvetica Neue"/>
                <a:ea typeface="Helvetica Neue"/>
                <a:cs typeface="Helvetica Neue"/>
              </a:defRPr>
            </a:pPr>
            <a:r>
              <a:rPr sz="3225" b="1">
                <a:solidFill>
                  <a:srgbClr val="122328"/>
                </a:solidFill>
                <a:latin typeface="Helvetica Neue"/>
                <a:ea typeface="Helvetica Neue"/>
                <a:cs typeface="Helvetica Neue"/>
              </a:rPr>
              <a:t>Agent adoption is outpacing access controls</a:t>
            </a:r>
          </a:p>
        </p:txBody>
      </p:sp>
      <p:sp>
        <p:nvSpPr>
          <p:cNvPr id="2" name="">
            <a:extLst xmlns:a="http://schemas.openxmlformats.org/drawingml/2006/main">
              <a:ext uri="{FF2B5EF4-FFF2-40B4-BE49-F238E27FC236}">
                <a16:creationId xmlns:a16="http://schemas.microsoft.com/office/drawing/2014/main" id="{16675173-9A3C-456D-87C7-654E1EBFC018}"/>
              </a:ext>
            </a:extLst>
          </p:cNvPr>
          <p:cNvSpPr>
            <a:spLocks xmlns:a="http://schemas.openxmlformats.org/drawingml/2006/main" noGrp="1"/>
          </p:cNvSpPr>
          <p:nvPr/>
        </p:nvSpPr>
        <p:spPr>
          <a:xfrm xmlns:a="http://schemas.openxmlformats.org/drawingml/2006/main">
            <a:off x="609600" y="6381750"/>
            <a:ext cx="10629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65D65"/>
                </a:solidFill>
                <a:latin typeface="Helvetica Neue"/>
                <a:ea typeface="Helvetica Neue"/>
                <a:cs typeface="Helvetica Neue"/>
              </a:defRPr>
            </a:pPr>
            <a:r>
              <a:rPr sz="1200" b="0">
                <a:solidFill>
                  <a:srgbClr val="465D65"/>
                </a:solidFill>
                <a:latin typeface="Helvetica Neue"/>
                <a:ea typeface="Helvetica Neue"/>
                <a:cs typeface="Helvetica Neue"/>
              </a:rPr>
              <a:t>Sources: Gartner, August 2025 forecast. IBM / Ponemon, 2025 breach study of 600 organizations.</a:t>
            </a:r>
          </a:p>
        </p:txBody>
      </p:sp>
      <p:sp>
        <p:nvSpPr>
          <p:cNvPr id="3" name="">
            <a:extLst xmlns:a="http://schemas.openxmlformats.org/drawingml/2006/main">
              <a:ext uri="{FF2B5EF4-FFF2-40B4-BE49-F238E27FC236}">
                <a16:creationId xmlns:a16="http://schemas.microsoft.com/office/drawing/2014/main" id="{60404A10-C4D2-4E07-8F76-DB72D2D6EF15}"/>
              </a:ext>
            </a:extLst>
          </p:cNvPr>
          <p:cNvSpPr>
            <a:spLocks xmlns:a="http://schemas.openxmlformats.org/drawingml/2006/main" noGrp="1"/>
          </p:cNvSpPr>
          <p:nvPr/>
        </p:nvSpPr>
        <p:spPr>
          <a:xfrm xmlns:a="http://schemas.openxmlformats.org/drawingml/2006/main">
            <a:off x="11334750" y="64198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65D65"/>
                </a:solidFill>
                <a:latin typeface="Helvetica Neue"/>
                <a:ea typeface="Helvetica Neue"/>
                <a:cs typeface="Helvetica Neue"/>
              </a:defRPr>
            </a:pPr>
            <a:r>
              <a:rPr sz="1200" b="0">
                <a:solidFill>
                  <a:srgbClr val="465D65"/>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D95EA221-97BD-4A54-A77E-CEEDB041FCB3}"/>
              </a:ext>
            </a:extLst>
          </p:cNvPr>
          <p:cNvSpPr>
            <a:spLocks xmlns:a="http://schemas.openxmlformats.org/drawingml/2006/main" noGrp="1"/>
          </p:cNvSpPr>
          <p:nvPr/>
        </p:nvSpPr>
        <p:spPr>
          <a:xfrm xmlns:a="http://schemas.openxmlformats.org/drawingml/2006/main">
            <a:off x="609600" y="1685925"/>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350" b="1">
                <a:solidFill>
                  <a:srgbClr val="177F6E"/>
                </a:solidFill>
                <a:latin typeface="Helvetica Neue"/>
                <a:ea typeface="Helvetica Neue"/>
                <a:cs typeface="Helvetica Neue"/>
              </a:defRPr>
            </a:pPr>
            <a:r>
              <a:rPr sz="7350" b="1">
                <a:solidFill>
                  <a:srgbClr val="177F6E"/>
                </a:solidFill>
                <a:latin typeface="Helvetica Neue"/>
                <a:ea typeface="Helvetica Neue"/>
                <a:cs typeface="Helvetica Neue"/>
              </a:rPr>
              <a:t>40%</a:t>
            </a:r>
          </a:p>
        </p:txBody>
      </p:sp>
      <p:sp>
        <p:nvSpPr>
          <p:cNvPr id="5" name="">
            <a:extLst xmlns:a="http://schemas.openxmlformats.org/drawingml/2006/main">
              <a:ext uri="{FF2B5EF4-FFF2-40B4-BE49-F238E27FC236}">
                <a16:creationId xmlns:a16="http://schemas.microsoft.com/office/drawing/2014/main" id="{86FAFDFC-1995-44FD-865D-93EE5795A5FB}"/>
              </a:ext>
            </a:extLst>
          </p:cNvPr>
          <p:cNvSpPr>
            <a:spLocks xmlns:a="http://schemas.openxmlformats.org/drawingml/2006/main" noGrp="1"/>
          </p:cNvSpPr>
          <p:nvPr/>
        </p:nvSpPr>
        <p:spPr>
          <a:xfrm xmlns:a="http://schemas.openxmlformats.org/drawingml/2006/main">
            <a:off x="647700" y="3028950"/>
            <a:ext cx="45243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22328"/>
                </a:solidFill>
                <a:latin typeface="Helvetica Neue"/>
                <a:ea typeface="Helvetica Neue"/>
                <a:cs typeface="Helvetica Neue"/>
              </a:defRPr>
            </a:pPr>
            <a:r>
              <a:rPr sz="2250" b="1">
                <a:solidFill>
                  <a:srgbClr val="122328"/>
                </a:solidFill>
                <a:latin typeface="Helvetica Neue"/>
                <a:ea typeface="Helvetica Neue"/>
                <a:cs typeface="Helvetica Neue"/>
              </a:rPr>
              <a:t>Enterprise applications with task-specific agents by the end of 2026</a:t>
            </a:r>
          </a:p>
        </p:txBody>
      </p:sp>
      <p:sp>
        <p:nvSpPr>
          <p:cNvPr id="6" name="">
            <a:extLst xmlns:a="http://schemas.openxmlformats.org/drawingml/2006/main">
              <a:ext uri="{FF2B5EF4-FFF2-40B4-BE49-F238E27FC236}">
                <a16:creationId xmlns:a16="http://schemas.microsoft.com/office/drawing/2014/main" id="{F5DC4AB1-813A-4BA5-BF63-F061D1BD85D7}"/>
              </a:ext>
            </a:extLst>
          </p:cNvPr>
          <p:cNvSpPr>
            <a:spLocks xmlns:a="http://schemas.openxmlformats.org/drawingml/2006/main" noGrp="1"/>
          </p:cNvSpPr>
          <p:nvPr/>
        </p:nvSpPr>
        <p:spPr>
          <a:xfrm xmlns:a="http://schemas.openxmlformats.org/drawingml/2006/main">
            <a:off x="647700" y="4476750"/>
            <a:ext cx="4524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65D65"/>
                </a:solidFill>
                <a:latin typeface="Helvetica Neue"/>
                <a:ea typeface="Helvetica Neue"/>
                <a:cs typeface="Helvetica Neue"/>
              </a:defRPr>
            </a:pPr>
            <a:r>
              <a:rPr sz="1725" b="0">
                <a:solidFill>
                  <a:srgbClr val="465D65"/>
                </a:solidFill>
                <a:latin typeface="Helvetica Neue"/>
                <a:ea typeface="Helvetica Neue"/>
                <a:cs typeface="Helvetica Neue"/>
              </a:rPr>
              <a:t>Gartner forecast, released August 2025.</a:t>
            </a:r>
          </a:p>
          <a:p xmlns:a="http://schemas.openxmlformats.org/drawingml/2006/main">
            <a:pPr>
              <a:defRPr sz="1725" b="0">
                <a:solidFill>
                  <a:srgbClr val="465D65"/>
                </a:solidFill>
                <a:latin typeface="Helvetica Neue"/>
                <a:ea typeface="Helvetica Neue"/>
                <a:cs typeface="Helvetica Neue"/>
              </a:defRPr>
            </a:pPr>
            <a:r>
              <a:rPr sz="1725" b="0">
                <a:solidFill>
                  <a:srgbClr val="465D65"/>
                </a:solidFill>
                <a:latin typeface="Helvetica Neue"/>
                <a:ea typeface="Helvetica Neue"/>
                <a:cs typeface="Helvetica Neue"/>
              </a:rPr>
              <a:t>Less than 5% in 2025.</a:t>
            </a:r>
          </a:p>
        </p:txBody>
      </p:sp>
      <p:sp>
        <p:nvSpPr>
          <p:cNvPr id="7" name="">
            <a:extLst xmlns:a="http://schemas.openxmlformats.org/drawingml/2006/main">
              <a:ext uri="{FF2B5EF4-FFF2-40B4-BE49-F238E27FC236}">
                <a16:creationId xmlns:a16="http://schemas.microsoft.com/office/drawing/2014/main" id="{67B95A74-FD20-4E2D-ADBA-5F6100EAD809}"/>
              </a:ext>
            </a:extLst>
          </p:cNvPr>
          <p:cNvSpPr>
            <a:spLocks xmlns:a="http://schemas.openxmlformats.org/drawingml/2006/main" noGrp="1"/>
          </p:cNvSpPr>
          <p:nvPr/>
        </p:nvSpPr>
        <p:spPr>
          <a:xfrm xmlns:a="http://schemas.openxmlformats.org/drawingml/2006/main">
            <a:off x="6429375" y="1685925"/>
            <a:ext cx="4762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122328"/>
                </a:solidFill>
                <a:latin typeface="Helvetica Neue"/>
                <a:ea typeface="Helvetica Neue"/>
                <a:cs typeface="Helvetica Neue"/>
              </a:defRPr>
            </a:pPr>
            <a:r>
              <a:rPr sz="6150" b="1">
                <a:solidFill>
                  <a:srgbClr val="122328"/>
                </a:solidFill>
                <a:latin typeface="Helvetica Neue"/>
                <a:ea typeface="Helvetica Neue"/>
                <a:cs typeface="Helvetica Neue"/>
              </a:rPr>
              <a:t>13%</a:t>
            </a:r>
          </a:p>
        </p:txBody>
      </p:sp>
      <p:sp>
        <p:nvSpPr>
          <p:cNvPr id="8" name="">
            <a:extLst xmlns:a="http://schemas.openxmlformats.org/drawingml/2006/main">
              <a:ext uri="{FF2B5EF4-FFF2-40B4-BE49-F238E27FC236}">
                <a16:creationId xmlns:a16="http://schemas.microsoft.com/office/drawing/2014/main" id="{0574BCBA-E854-4223-9C13-5011487B9136}"/>
              </a:ext>
            </a:extLst>
          </p:cNvPr>
          <p:cNvSpPr>
            <a:spLocks xmlns:a="http://schemas.openxmlformats.org/drawingml/2006/main" noGrp="1"/>
          </p:cNvSpPr>
          <p:nvPr/>
        </p:nvSpPr>
        <p:spPr>
          <a:xfrm xmlns:a="http://schemas.openxmlformats.org/drawingml/2006/main">
            <a:off x="6467475" y="2905125"/>
            <a:ext cx="4762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22328"/>
                </a:solidFill>
                <a:latin typeface="Helvetica Neue"/>
                <a:ea typeface="Helvetica Neue"/>
                <a:cs typeface="Helvetica Neue"/>
              </a:defRPr>
            </a:pPr>
            <a:r>
              <a:rPr sz="1950" b="1">
                <a:solidFill>
                  <a:srgbClr val="122328"/>
                </a:solidFill>
                <a:latin typeface="Helvetica Neue"/>
                <a:ea typeface="Helvetica Neue"/>
                <a:cs typeface="Helvetica Neue"/>
              </a:rPr>
              <a:t>Of breached organizations in IBM’s 2025 study reported AI model or application breaches</a:t>
            </a:r>
          </a:p>
        </p:txBody>
      </p:sp>
      <p:sp>
        <p:nvSpPr>
          <p:cNvPr id="9" name="">
            <a:extLst xmlns:a="http://schemas.openxmlformats.org/drawingml/2006/main">
              <a:ext uri="{FF2B5EF4-FFF2-40B4-BE49-F238E27FC236}">
                <a16:creationId xmlns:a16="http://schemas.microsoft.com/office/drawing/2014/main" id="{4C391155-81EE-4803-8E88-A6F5C42459B3}"/>
              </a:ext>
            </a:extLst>
          </p:cNvPr>
          <p:cNvSpPr>
            <a:spLocks xmlns:a="http://schemas.openxmlformats.org/drawingml/2006/main" noGrp="1"/>
          </p:cNvSpPr>
          <p:nvPr/>
        </p:nvSpPr>
        <p:spPr>
          <a:xfrm xmlns:a="http://schemas.openxmlformats.org/drawingml/2006/main">
            <a:off x="6467475" y="4457700"/>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83535"/>
                </a:solidFill>
                <a:latin typeface="Helvetica Neue"/>
                <a:ea typeface="Helvetica Neue"/>
                <a:cs typeface="Helvetica Neue"/>
              </a:defRPr>
            </a:pPr>
            <a:r>
              <a:rPr sz="2175" b="1">
                <a:solidFill>
                  <a:srgbClr val="A83535"/>
                </a:solidFill>
                <a:latin typeface="Helvetica Neue"/>
                <a:ea typeface="Helvetica Neue"/>
                <a:cs typeface="Helvetica Neue"/>
              </a:rPr>
              <a:t>97% of that affected subgroup reported lacking AI access controls.</a:t>
            </a:r>
          </a:p>
        </p:txBody>
      </p:sp>
    </p:spTree>
    <p:extLst>
      <p:ext uri="{BB962C8B-B14F-4D97-AF65-F5344CB8AC3E}">
        <p14:creationId xmlns:p14="http://schemas.microsoft.com/office/powerpoint/2010/main" val="587258263"/>
      </p:ext>
    </p:extLst>
  </p:cSld>
</p:sld>
</file>

<file path=ppt/slides/slide3.xml><?xml version="1.0" encoding="utf-8"?>
<p:sld xmlns:p="http://schemas.openxmlformats.org/presentationml/2006/main">
  <p:cSld>
    <p:bg>
      <p:bgPr>
        <a:solidFill xmlns:a="http://schemas.openxmlformats.org/drawingml/2006/main">
          <a:srgbClr val="F5F8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9999D4D-C2CD-4A73-98E6-D7427BEFD4EF}"/>
              </a:ext>
            </a:extLst>
          </p:cNvPr>
          <p:cNvSpPr>
            <a:spLocks xmlns:a="http://schemas.openxmlformats.org/drawingml/2006/main" noGrp="1"/>
          </p:cNvSpPr>
          <p:nvPr/>
        </p:nvSpPr>
        <p:spPr>
          <a:xfrm xmlns:a="http://schemas.openxmlformats.org/drawingml/2006/main">
            <a:off x="609600" y="438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22328"/>
                </a:solidFill>
                <a:latin typeface="Helvetica Neue"/>
                <a:ea typeface="Helvetica Neue"/>
                <a:cs typeface="Helvetica Neue"/>
              </a:defRPr>
            </a:pPr>
            <a:r>
              <a:rPr sz="3225" b="1">
                <a:solidFill>
                  <a:srgbClr val="122328"/>
                </a:solidFill>
                <a:latin typeface="Helvetica Neue"/>
                <a:ea typeface="Helvetica Neue"/>
                <a:cs typeface="Helvetica Neue"/>
              </a:rPr>
              <a:t>The buying problem is control over agent authority</a:t>
            </a:r>
          </a:p>
        </p:txBody>
      </p:sp>
      <p:sp>
        <p:nvSpPr>
          <p:cNvPr id="2" name="">
            <a:extLst xmlns:a="http://schemas.openxmlformats.org/drawingml/2006/main">
              <a:ext uri="{FF2B5EF4-FFF2-40B4-BE49-F238E27FC236}">
                <a16:creationId xmlns:a16="http://schemas.microsoft.com/office/drawing/2014/main" id="{4B8967CA-5DC5-4F1B-8D90-C00FB673BCCF}"/>
              </a:ext>
            </a:extLst>
          </p:cNvPr>
          <p:cNvSpPr>
            <a:spLocks xmlns:a="http://schemas.openxmlformats.org/drawingml/2006/main" noGrp="1"/>
          </p:cNvSpPr>
          <p:nvPr/>
        </p:nvSpPr>
        <p:spPr>
          <a:xfrm xmlns:a="http://schemas.openxmlformats.org/drawingml/2006/main">
            <a:off x="609600" y="6381750"/>
            <a:ext cx="10629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65D65"/>
                </a:solidFill>
                <a:latin typeface="Helvetica Neue"/>
                <a:ea typeface="Helvetica Neue"/>
                <a:cs typeface="Helvetica Neue"/>
              </a:defRPr>
            </a:pPr>
            <a:r>
              <a:rPr sz="1200" b="0">
                <a:solidFill>
                  <a:srgbClr val="465D65"/>
                </a:solidFill>
                <a:latin typeface="Helvetica Neue"/>
                <a:ea typeface="Helvetica Neue"/>
                <a:cs typeface="Helvetica Neue"/>
              </a:rPr>
              <a:t>Source: Gartner, 26 August 2026. Spending forecasts for securing AI, not this product’s addressable market.</a:t>
            </a:r>
          </a:p>
        </p:txBody>
      </p:sp>
      <p:sp>
        <p:nvSpPr>
          <p:cNvPr id="3" name="">
            <a:extLst xmlns:a="http://schemas.openxmlformats.org/drawingml/2006/main">
              <a:ext uri="{FF2B5EF4-FFF2-40B4-BE49-F238E27FC236}">
                <a16:creationId xmlns:a16="http://schemas.microsoft.com/office/drawing/2014/main" id="{333C7E9E-C67C-4400-9243-B8D99E358759}"/>
              </a:ext>
            </a:extLst>
          </p:cNvPr>
          <p:cNvSpPr>
            <a:spLocks xmlns:a="http://schemas.openxmlformats.org/drawingml/2006/main" noGrp="1"/>
          </p:cNvSpPr>
          <p:nvPr/>
        </p:nvSpPr>
        <p:spPr>
          <a:xfrm xmlns:a="http://schemas.openxmlformats.org/drawingml/2006/main">
            <a:off x="11334750" y="64198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65D65"/>
                </a:solidFill>
                <a:latin typeface="Helvetica Neue"/>
                <a:ea typeface="Helvetica Neue"/>
                <a:cs typeface="Helvetica Neue"/>
              </a:defRPr>
            </a:pPr>
            <a:r>
              <a:rPr sz="1200" b="0">
                <a:solidFill>
                  <a:srgbClr val="465D65"/>
                </a:solidFill>
                <a:latin typeface="Helvetica Neue"/>
                <a:ea typeface="Helvetica Neue"/>
                <a:cs typeface="Helvetica Neue"/>
              </a:rPr>
              <a:t>03</a:t>
            </a:r>
          </a:p>
        </p:txBody>
      </p:sp>
      <p:graphicFrame>
        <p:nvGraphicFramePr>
          <p:cNvPr id="12" name="Chart"/>
          <p:cNvGraphicFramePr/>
          <p:nvPr/>
        </p:nvGraphicFramePr>
        <p:xfrm>
          <a:off xmlns:a="http://schemas.openxmlformats.org/drawingml/2006/main" x="666750" y="1714500"/>
          <a:ext xmlns:a="http://schemas.openxmlformats.org/drawingml/2006/main" cx="5905500" cy="3714750"/>
        </p:xfrm>
        <a:graphic xmlns:a="http://schemas.openxmlformats.org/drawingml/2006/main">
          <a:graphicData uri="http://schemas.openxmlformats.org/drawingml/2006/chart">
            <c:chart xmlns:r="http://schemas.openxmlformats.org/officeDocument/2006/relationships" xmlns:c="http://schemas.openxmlformats.org/drawingml/2006/chart" r:id="R0f54246e6c72435f"/>
          </a:graphicData>
        </a:graphic>
      </p:graphicFrame>
      <p:sp>
        <p:nvSpPr>
          <p:cNvPr id="5" name="">
            <a:extLst xmlns:a="http://schemas.openxmlformats.org/drawingml/2006/main">
              <a:ext uri="{FF2B5EF4-FFF2-40B4-BE49-F238E27FC236}">
                <a16:creationId xmlns:a16="http://schemas.microsoft.com/office/drawing/2014/main" id="{EE5D4995-EF93-49C9-B6F4-65E7ED583443}"/>
              </a:ext>
            </a:extLst>
          </p:cNvPr>
          <p:cNvSpPr>
            <a:spLocks xmlns:a="http://schemas.openxmlformats.org/drawingml/2006/main" noGrp="1"/>
          </p:cNvSpPr>
          <p:nvPr/>
        </p:nvSpPr>
        <p:spPr>
          <a:xfrm xmlns:a="http://schemas.openxmlformats.org/drawingml/2006/main">
            <a:off x="7258050" y="1724025"/>
            <a:ext cx="4191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22328"/>
                </a:solidFill>
                <a:latin typeface="Helvetica Neue"/>
                <a:ea typeface="Helvetica Neue"/>
                <a:cs typeface="Helvetica Neue"/>
              </a:defRPr>
            </a:pPr>
            <a:r>
              <a:rPr sz="2250" b="1">
                <a:solidFill>
                  <a:srgbClr val="122328"/>
                </a:solidFill>
                <a:latin typeface="Helvetica Neue"/>
                <a:ea typeface="Helvetica Neue"/>
                <a:cs typeface="Helvetica Neue"/>
              </a:rPr>
              <a:t>Security and application teams</a:t>
            </a:r>
          </a:p>
        </p:txBody>
      </p:sp>
      <p:sp>
        <p:nvSpPr>
          <p:cNvPr id="6" name="">
            <a:extLst xmlns:a="http://schemas.openxmlformats.org/drawingml/2006/main">
              <a:ext uri="{FF2B5EF4-FFF2-40B4-BE49-F238E27FC236}">
                <a16:creationId xmlns:a16="http://schemas.microsoft.com/office/drawing/2014/main" id="{70537423-F049-4466-99BC-08257D4E8CD1}"/>
              </a:ext>
            </a:extLst>
          </p:cNvPr>
          <p:cNvSpPr>
            <a:spLocks xmlns:a="http://schemas.openxmlformats.org/drawingml/2006/main" noGrp="1"/>
          </p:cNvSpPr>
          <p:nvPr/>
        </p:nvSpPr>
        <p:spPr>
          <a:xfrm xmlns:a="http://schemas.openxmlformats.org/drawingml/2006/main">
            <a:off x="7258050" y="2619375"/>
            <a:ext cx="419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22328"/>
                </a:solidFill>
                <a:latin typeface="Helvetica Neue"/>
                <a:ea typeface="Helvetica Neue"/>
                <a:cs typeface="Helvetica Neue"/>
              </a:defRPr>
            </a:pPr>
            <a:r>
              <a:rPr sz="2175" b="0">
                <a:solidFill>
                  <a:srgbClr val="122328"/>
                </a:solidFill>
                <a:latin typeface="Helvetica Neue"/>
                <a:ea typeface="Helvetica Neue"/>
                <a:cs typeface="Helvetica Neue"/>
              </a:rPr>
              <a:t>Need to approve what an agent may read, send or change.</a:t>
            </a:r>
          </a:p>
        </p:txBody>
      </p:sp>
      <p:sp>
        <p:nvSpPr>
          <p:cNvPr id="7" name="">
            <a:extLst xmlns:a="http://schemas.openxmlformats.org/drawingml/2006/main">
              <a:ext uri="{FF2B5EF4-FFF2-40B4-BE49-F238E27FC236}">
                <a16:creationId xmlns:a16="http://schemas.microsoft.com/office/drawing/2014/main" id="{D489E4FB-C8C8-430D-A354-9C45B498B509}"/>
              </a:ext>
            </a:extLst>
          </p:cNvPr>
          <p:cNvSpPr>
            <a:spLocks xmlns:a="http://schemas.openxmlformats.org/drawingml/2006/main" noGrp="1"/>
          </p:cNvSpPr>
          <p:nvPr/>
        </p:nvSpPr>
        <p:spPr>
          <a:xfrm xmlns:a="http://schemas.openxmlformats.org/drawingml/2006/main">
            <a:off x="7258050" y="4152900"/>
            <a:ext cx="419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7F6E"/>
                </a:solidFill>
                <a:latin typeface="Helvetica Neue"/>
                <a:ea typeface="Helvetica Neue"/>
                <a:cs typeface="Helvetica Neue"/>
              </a:defRPr>
            </a:pPr>
            <a:r>
              <a:rPr sz="1950" b="1">
                <a:solidFill>
                  <a:srgbClr val="177F6E"/>
                </a:solidFill>
                <a:latin typeface="Helvetica Neue"/>
                <a:ea typeface="Helvetica Neue"/>
                <a:cs typeface="Helvetica Neue"/>
              </a:rPr>
              <a:t>Our initial opportunity</a:t>
            </a:r>
          </a:p>
        </p:txBody>
      </p:sp>
      <p:sp>
        <p:nvSpPr>
          <p:cNvPr id="8" name="">
            <a:extLst xmlns:a="http://schemas.openxmlformats.org/drawingml/2006/main">
              <a:ext uri="{FF2B5EF4-FFF2-40B4-BE49-F238E27FC236}">
                <a16:creationId xmlns:a16="http://schemas.microsoft.com/office/drawing/2014/main" id="{55596D46-A8A6-437C-8331-A79BF5D67E0C}"/>
              </a:ext>
            </a:extLst>
          </p:cNvPr>
          <p:cNvSpPr>
            <a:spLocks xmlns:a="http://schemas.openxmlformats.org/drawingml/2006/main" noGrp="1"/>
          </p:cNvSpPr>
          <p:nvPr/>
        </p:nvSpPr>
        <p:spPr>
          <a:xfrm xmlns:a="http://schemas.openxmlformats.org/drawingml/2006/main">
            <a:off x="7258050" y="4686300"/>
            <a:ext cx="4191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22328"/>
                </a:solidFill>
                <a:latin typeface="Helvetica Neue"/>
                <a:ea typeface="Helvetica Neue"/>
                <a:cs typeface="Helvetica Neue"/>
              </a:defRPr>
            </a:pPr>
            <a:r>
              <a:rPr sz="1875" b="0">
                <a:solidFill>
                  <a:srgbClr val="122328"/>
                </a:solidFill>
                <a:latin typeface="Helvetica Neue"/>
                <a:ea typeface="Helvetica Neue"/>
                <a:cs typeface="Helvetica Neue"/>
              </a:rPr>
              <a:t>Integrate into a bounded agent workflow and expose each release and action decision.</a:t>
            </a:r>
          </a:p>
        </p:txBody>
      </p:sp>
    </p:spTree>
    <p:extLst>
      <p:ext uri="{BB962C8B-B14F-4D97-AF65-F5344CB8AC3E}">
        <p14:creationId xmlns:p14="http://schemas.microsoft.com/office/powerpoint/2010/main" val="777767666"/>
      </p:ext>
    </p:extLst>
  </p:cSld>
</p:sld>
</file>

<file path=ppt/slides/slide4.xml><?xml version="1.0" encoding="utf-8"?>
<p:sld xmlns:p="http://schemas.openxmlformats.org/presentationml/2006/main">
  <p:cSld>
    <p:bg>
      <p:bgPr>
        <a:solidFill xmlns:a="http://schemas.openxmlformats.org/drawingml/2006/main">
          <a:srgbClr val="F5F8F8"/>
        </a:solidFill>
      </p:bgPr>
    </p:bg>
    <p:spTree>
      <p:nvGrpSpPr>
        <p:cNvPr id="1" name=""/>
        <p:cNvGrpSpPr/>
        <p:nvPr/>
      </p:nvGrpSpPr>
      <p:grpSpPr>
        <a:xfrm xmlns:a="http://schemas.openxmlformats.org/drawingml/2006/main"/>
      </p:grpSpPr>
      <p:cxnSp>
        <p:nvCxnSpPr>
          <p:cNvPr id="19" name=""/>
          <p:cNvCxnSpPr>
            <a:stCxn xmlns:a="http://schemas.openxmlformats.org/drawingml/2006/main" id="6" idx="3"/>
            <a:endCxn xmlns:a="http://schemas.openxmlformats.org/drawingml/2006/main" id="7" idx="1"/>
          </p:cNvCxnSpPr>
          <p:nvPr/>
        </p:nvCxnSpPr>
        <p:spPr>
          <a:xfrm xmlns:a="http://schemas.openxmlformats.org/drawingml/2006/main">
            <a:off x="8743950" y="2647950"/>
            <a:ext cx="466725" cy="0"/>
          </a:xfrm>
          <a:prstGeom xmlns:a="http://schemas.openxmlformats.org/drawingml/2006/main" prst="straightConnector1">
            <a:avLst/>
          </a:prstGeom>
          <a:ln xmlns:a="http://schemas.openxmlformats.org/drawingml/2006/main" w="19050">
            <a:solidFill>
              <a:srgbClr val="177F6E"/>
            </a:solidFill>
            <a:tailEnd type="triangle" w="sm" len="sm"/>
          </a:ln>
        </p:spPr>
      </p:cxn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a:off x="5876925" y="2647950"/>
            <a:ext cx="466725" cy="0"/>
          </a:xfrm>
          <a:prstGeom xmlns:a="http://schemas.openxmlformats.org/drawingml/2006/main" prst="straightConnector1">
            <a:avLst/>
          </a:prstGeom>
          <a:ln xmlns:a="http://schemas.openxmlformats.org/drawingml/2006/main" w="19050">
            <a:solidFill>
              <a:srgbClr val="177F6E"/>
            </a:solidFill>
            <a:tailEnd type="triangle" w="sm" len="sm"/>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3009900" y="2647950"/>
            <a:ext cx="466725" cy="0"/>
          </a:xfrm>
          <a:prstGeom xmlns:a="http://schemas.openxmlformats.org/drawingml/2006/main" prst="straightConnector1">
            <a:avLst/>
          </a:prstGeom>
          <a:ln xmlns:a="http://schemas.openxmlformats.org/drawingml/2006/main" w="19050">
            <a:solidFill>
              <a:srgbClr val="177F6E"/>
            </a:solidFill>
            <a:tailEnd type="triangle" w="sm" len="sm"/>
          </a:ln>
        </p:spPr>
      </p:cxnSp>
      <p:sp>
        <p:nvSpPr>
          <p:cNvPr id="22" name="">
            <a:extLst xmlns:a="http://schemas.openxmlformats.org/drawingml/2006/main">
              <a:ext uri="{FF2B5EF4-FFF2-40B4-BE49-F238E27FC236}">
                <a16:creationId xmlns:a16="http://schemas.microsoft.com/office/drawing/2014/main" id="{E0DB5FBC-4634-435E-986F-34DB8D34B878}"/>
              </a:ext>
            </a:extLst>
          </p:cNvPr>
          <p:cNvSpPr>
            <a:spLocks xmlns:a="http://schemas.openxmlformats.org/drawingml/2006/main" noGrp="1"/>
          </p:cNvSpPr>
          <p:nvPr/>
        </p:nvSpPr>
        <p:spPr>
          <a:xfrm xmlns:a="http://schemas.openxmlformats.org/drawingml/2006/main">
            <a:off x="609600" y="438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22328"/>
                </a:solidFill>
                <a:latin typeface="Helvetica Neue"/>
                <a:ea typeface="Helvetica Neue"/>
                <a:cs typeface="Helvetica Neue"/>
              </a:defRPr>
            </a:pPr>
            <a:r>
              <a:rPr sz="3225" b="1">
                <a:solidFill>
                  <a:srgbClr val="122328"/>
                </a:solidFill>
                <a:latin typeface="Helvetica Neue"/>
                <a:ea typeface="Helvetica Neue"/>
                <a:cs typeface="Helvetica Neue"/>
              </a:rPr>
              <a:t>External evidence can redirect an agent</a:t>
            </a:r>
          </a:p>
        </p:txBody>
      </p:sp>
      <p:sp>
        <p:nvSpPr>
          <p:cNvPr id="2" name="">
            <a:extLst xmlns:a="http://schemas.openxmlformats.org/drawingml/2006/main">
              <a:ext uri="{FF2B5EF4-FFF2-40B4-BE49-F238E27FC236}">
                <a16:creationId xmlns:a16="http://schemas.microsoft.com/office/drawing/2014/main" id="{82B35F49-A0A0-4D99-A557-8D89525BA72E}"/>
              </a:ext>
            </a:extLst>
          </p:cNvPr>
          <p:cNvSpPr>
            <a:spLocks xmlns:a="http://schemas.openxmlformats.org/drawingml/2006/main" noGrp="1"/>
          </p:cNvSpPr>
          <p:nvPr/>
        </p:nvSpPr>
        <p:spPr>
          <a:xfrm xmlns:a="http://schemas.openxmlformats.org/drawingml/2006/main">
            <a:off x="609600" y="6381750"/>
            <a:ext cx="10629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65D65"/>
                </a:solidFill>
                <a:latin typeface="Helvetica Neue"/>
                <a:ea typeface="Helvetica Neue"/>
                <a:cs typeface="Helvetica Neue"/>
              </a:defRPr>
            </a:pPr>
            <a:r>
              <a:rPr sz="1200" b="0">
                <a:solidFill>
                  <a:srgbClr val="465D65"/>
                </a:solidFill>
                <a:latin typeface="Helvetica Neue"/>
                <a:ea typeface="Helvetica Neue"/>
                <a:cs typeface="Helvetica Neue"/>
              </a:rPr>
              <a:t>Threat model: adversarial evidence can influence model output. The broker still controls effects.</a:t>
            </a:r>
          </a:p>
        </p:txBody>
      </p:sp>
      <p:sp>
        <p:nvSpPr>
          <p:cNvPr id="3" name="">
            <a:extLst xmlns:a="http://schemas.openxmlformats.org/drawingml/2006/main">
              <a:ext uri="{FF2B5EF4-FFF2-40B4-BE49-F238E27FC236}">
                <a16:creationId xmlns:a16="http://schemas.microsoft.com/office/drawing/2014/main" id="{0950A41F-0F1C-4CD0-AF09-272E43FC5BDE}"/>
              </a:ext>
            </a:extLst>
          </p:cNvPr>
          <p:cNvSpPr>
            <a:spLocks xmlns:a="http://schemas.openxmlformats.org/drawingml/2006/main" noGrp="1"/>
          </p:cNvSpPr>
          <p:nvPr/>
        </p:nvSpPr>
        <p:spPr>
          <a:xfrm xmlns:a="http://schemas.openxmlformats.org/drawingml/2006/main">
            <a:off x="11334750" y="64198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65D65"/>
                </a:solidFill>
                <a:latin typeface="Helvetica Neue"/>
                <a:ea typeface="Helvetica Neue"/>
                <a:cs typeface="Helvetica Neue"/>
              </a:defRPr>
            </a:pPr>
            <a:r>
              <a:rPr sz="1200" b="0">
                <a:solidFill>
                  <a:srgbClr val="465D65"/>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4B513A51-7C2B-46A8-8BCE-193FF8C0DC92}"/>
              </a:ext>
            </a:extLst>
          </p:cNvPr>
          <p:cNvSpPr>
            <a:spLocks xmlns:a="http://schemas.openxmlformats.org/drawingml/2006/main" noGrp="1"/>
          </p:cNvSpPr>
          <p:nvPr/>
        </p:nvSpPr>
        <p:spPr>
          <a:xfrm xmlns:a="http://schemas.openxmlformats.org/drawingml/2006/main">
            <a:off x="609600" y="2114550"/>
            <a:ext cx="2400300" cy="1066800"/>
          </a:xfrm>
          <a:prstGeom xmlns:a="http://schemas.openxmlformats.org/drawingml/2006/main" prst="rect">
            <a:avLst/>
          </a:prstGeom>
          <a:solidFill xmlns:a="http://schemas.openxmlformats.org/drawingml/2006/main">
            <a:srgbClr val="E4F2EC"/>
          </a:solidFill>
          <a:ln xmlns:a="http://schemas.openxmlformats.org/drawingml/2006/main" w="9525">
            <a:solidFill>
              <a:srgbClr val="C1D2D5"/>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122328"/>
                </a:solidFill>
                <a:latin typeface="Helvetica Neue"/>
                <a:ea typeface="Helvetica Neue"/>
                <a:cs typeface="Helvetica Neue"/>
              </a:defRPr>
            </a:pPr>
            <a:r>
              <a:rPr sz="1800" b="1">
                <a:solidFill>
                  <a:srgbClr val="122328"/>
                </a:solidFill>
                <a:latin typeface="Helvetica Neue"/>
                <a:ea typeface="Helvetica Neue"/>
                <a:cs typeface="Helvetica Neue"/>
              </a:rPr>
              <a:t>Supplier workbook</a:t>
            </a:r>
          </a:p>
        </p:txBody>
      </p:sp>
      <p:sp>
        <p:nvSpPr>
          <p:cNvPr id="5" name="">
            <a:extLst xmlns:a="http://schemas.openxmlformats.org/drawingml/2006/main">
              <a:ext uri="{FF2B5EF4-FFF2-40B4-BE49-F238E27FC236}">
                <a16:creationId xmlns:a16="http://schemas.microsoft.com/office/drawing/2014/main" id="{55380C6F-377C-4CC5-A9E5-7AFAC70327E1}"/>
              </a:ext>
            </a:extLst>
          </p:cNvPr>
          <p:cNvSpPr>
            <a:spLocks xmlns:a="http://schemas.openxmlformats.org/drawingml/2006/main" noGrp="1"/>
          </p:cNvSpPr>
          <p:nvPr/>
        </p:nvSpPr>
        <p:spPr>
          <a:xfrm xmlns:a="http://schemas.openxmlformats.org/drawingml/2006/main">
            <a:off x="3476625" y="2114550"/>
            <a:ext cx="2400300" cy="1066800"/>
          </a:xfrm>
          <a:prstGeom xmlns:a="http://schemas.openxmlformats.org/drawingml/2006/main" prst="rect">
            <a:avLst/>
          </a:prstGeom>
          <a:solidFill xmlns:a="http://schemas.openxmlformats.org/drawingml/2006/main">
            <a:srgbClr val="E4F2EC"/>
          </a:solidFill>
          <a:ln xmlns:a="http://schemas.openxmlformats.org/drawingml/2006/main" w="9525">
            <a:solidFill>
              <a:srgbClr val="C1D2D5"/>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122328"/>
                </a:solidFill>
                <a:latin typeface="Helvetica Neue"/>
                <a:ea typeface="Helvetica Neue"/>
                <a:cs typeface="Helvetica Neue"/>
              </a:defRPr>
            </a:pPr>
            <a:r>
              <a:rPr sz="1800" b="1">
                <a:solidFill>
                  <a:srgbClr val="122328"/>
                </a:solidFill>
                <a:latin typeface="Helvetica Neue"/>
                <a:ea typeface="Helvetica Neue"/>
                <a:cs typeface="Helvetica Neue"/>
              </a:rPr>
              <a:t>Hidden instruction</a:t>
            </a:r>
          </a:p>
        </p:txBody>
      </p:sp>
      <p:sp>
        <p:nvSpPr>
          <p:cNvPr id="6" name="">
            <a:extLst xmlns:a="http://schemas.openxmlformats.org/drawingml/2006/main">
              <a:ext uri="{FF2B5EF4-FFF2-40B4-BE49-F238E27FC236}">
                <a16:creationId xmlns:a16="http://schemas.microsoft.com/office/drawing/2014/main" id="{0ED76950-36C8-498E-9B31-701F5F821A05}"/>
              </a:ext>
            </a:extLst>
          </p:cNvPr>
          <p:cNvSpPr>
            <a:spLocks xmlns:a="http://schemas.openxmlformats.org/drawingml/2006/main" noGrp="1"/>
          </p:cNvSpPr>
          <p:nvPr/>
        </p:nvSpPr>
        <p:spPr>
          <a:xfrm xmlns:a="http://schemas.openxmlformats.org/drawingml/2006/main">
            <a:off x="6343650" y="2114550"/>
            <a:ext cx="2400300" cy="1066800"/>
          </a:xfrm>
          <a:prstGeom xmlns:a="http://schemas.openxmlformats.org/drawingml/2006/main" prst="rect">
            <a:avLst/>
          </a:prstGeom>
          <a:solidFill xmlns:a="http://schemas.openxmlformats.org/drawingml/2006/main">
            <a:srgbClr val="E4F2EC"/>
          </a:solidFill>
          <a:ln xmlns:a="http://schemas.openxmlformats.org/drawingml/2006/main" w="9525">
            <a:solidFill>
              <a:srgbClr val="C1D2D5"/>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122328"/>
                </a:solidFill>
                <a:latin typeface="Helvetica Neue"/>
                <a:ea typeface="Helvetica Neue"/>
                <a:cs typeface="Helvetica Neue"/>
              </a:defRPr>
            </a:pPr>
            <a:r>
              <a:rPr sz="1800" b="1">
                <a:solidFill>
                  <a:srgbClr val="122328"/>
                </a:solidFill>
                <a:latin typeface="Helvetica Neue"/>
                <a:ea typeface="Helvetica Neue"/>
                <a:cs typeface="Helvetica Neue"/>
              </a:rPr>
              <a:t>Agent decision</a:t>
            </a:r>
          </a:p>
        </p:txBody>
      </p:sp>
      <p:sp>
        <p:nvSpPr>
          <p:cNvPr id="7" name="">
            <a:extLst xmlns:a="http://schemas.openxmlformats.org/drawingml/2006/main">
              <a:ext uri="{FF2B5EF4-FFF2-40B4-BE49-F238E27FC236}">
                <a16:creationId xmlns:a16="http://schemas.microsoft.com/office/drawing/2014/main" id="{8613FB15-B02B-41EE-9937-7D2EA55E300E}"/>
              </a:ext>
            </a:extLst>
          </p:cNvPr>
          <p:cNvSpPr>
            <a:spLocks xmlns:a="http://schemas.openxmlformats.org/drawingml/2006/main" noGrp="1"/>
          </p:cNvSpPr>
          <p:nvPr/>
        </p:nvSpPr>
        <p:spPr>
          <a:xfrm xmlns:a="http://schemas.openxmlformats.org/drawingml/2006/main">
            <a:off x="9210675" y="2114550"/>
            <a:ext cx="2400300" cy="1066800"/>
          </a:xfrm>
          <a:prstGeom xmlns:a="http://schemas.openxmlformats.org/drawingml/2006/main" prst="rect">
            <a:avLst/>
          </a:prstGeom>
          <a:solidFill xmlns:a="http://schemas.openxmlformats.org/drawingml/2006/main">
            <a:srgbClr val="E4F2EC"/>
          </a:solidFill>
          <a:ln xmlns:a="http://schemas.openxmlformats.org/drawingml/2006/main" w="9525">
            <a:solidFill>
              <a:srgbClr val="C1D2D5"/>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122328"/>
                </a:solidFill>
                <a:latin typeface="Helvetica Neue"/>
                <a:ea typeface="Helvetica Neue"/>
                <a:cs typeface="Helvetica Neue"/>
              </a:defRPr>
            </a:pPr>
            <a:r>
              <a:rPr sz="1800" b="1">
                <a:solidFill>
                  <a:srgbClr val="122328"/>
                </a:solidFill>
                <a:latin typeface="Helvetica Neue"/>
                <a:ea typeface="Helvetica Neue"/>
                <a:cs typeface="Helvetica Neue"/>
              </a:rPr>
              <a:t>Requested action</a:t>
            </a:r>
          </a:p>
        </p:txBody>
      </p:sp>
      <p:sp>
        <p:nvSpPr>
          <p:cNvPr id="11" name="">
            <a:extLst xmlns:a="http://schemas.openxmlformats.org/drawingml/2006/main">
              <a:ext uri="{FF2B5EF4-FFF2-40B4-BE49-F238E27FC236}">
                <a16:creationId xmlns:a16="http://schemas.microsoft.com/office/drawing/2014/main" id="{5D53B0D8-5BA1-4210-A4AA-E06EB8C711F8}"/>
              </a:ext>
            </a:extLst>
          </p:cNvPr>
          <p:cNvSpPr>
            <a:spLocks xmlns:a="http://schemas.openxmlformats.org/drawingml/2006/main" noGrp="1"/>
          </p:cNvSpPr>
          <p:nvPr/>
        </p:nvSpPr>
        <p:spPr>
          <a:xfrm xmlns:a="http://schemas.openxmlformats.org/drawingml/2006/main">
            <a:off x="609600" y="3695700"/>
            <a:ext cx="2400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7F6E"/>
                </a:solidFill>
                <a:latin typeface="Helvetica Neue"/>
                <a:ea typeface="Helvetica Neue"/>
                <a:cs typeface="Helvetica Neue"/>
              </a:defRPr>
            </a:pPr>
            <a:r>
              <a:rPr sz="1950" b="1">
                <a:solidFill>
                  <a:srgbClr val="177F6E"/>
                </a:solidFill>
                <a:latin typeface="Helvetica Neue"/>
                <a:ea typeface="Helvetica Neue"/>
                <a:cs typeface="Helvetica Neue"/>
              </a:rPr>
              <a:t>Real business facts</a:t>
            </a:r>
          </a:p>
        </p:txBody>
      </p:sp>
      <p:sp>
        <p:nvSpPr>
          <p:cNvPr id="12" name="">
            <a:extLst xmlns:a="http://schemas.openxmlformats.org/drawingml/2006/main">
              <a:ext uri="{FF2B5EF4-FFF2-40B4-BE49-F238E27FC236}">
                <a16:creationId xmlns:a16="http://schemas.microsoft.com/office/drawing/2014/main" id="{EDC75F6D-9B6E-4AA5-86A0-A2E565C7544B}"/>
              </a:ext>
            </a:extLst>
          </p:cNvPr>
          <p:cNvSpPr>
            <a:spLocks xmlns:a="http://schemas.openxmlformats.org/drawingml/2006/main" noGrp="1"/>
          </p:cNvSpPr>
          <p:nvPr/>
        </p:nvSpPr>
        <p:spPr>
          <a:xfrm xmlns:a="http://schemas.openxmlformats.org/drawingml/2006/main">
            <a:off x="609600" y="4276725"/>
            <a:ext cx="2571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22328"/>
                </a:solidFill>
                <a:latin typeface="Helvetica Neue"/>
                <a:ea typeface="Helvetica Neue"/>
                <a:cs typeface="Helvetica Neue"/>
              </a:defRPr>
            </a:pPr>
            <a:r>
              <a:rPr sz="1875" b="0">
                <a:solidFill>
                  <a:srgbClr val="122328"/>
                </a:solidFill>
                <a:latin typeface="Helvetica Neue"/>
                <a:ea typeface="Helvetica Neue"/>
                <a:cs typeface="Helvetica Neue"/>
              </a:rPr>
              <a:t>Price 100</a:t>
            </a:r>
          </a:p>
          <a:p xmlns:a="http://schemas.openxmlformats.org/drawingml/2006/main">
            <a:pPr>
              <a:defRPr sz="1875" b="0">
                <a:solidFill>
                  <a:srgbClr val="122328"/>
                </a:solidFill>
                <a:latin typeface="Helvetica Neue"/>
                <a:ea typeface="Helvetica Neue"/>
                <a:cs typeface="Helvetica Neue"/>
              </a:defRPr>
            </a:pPr>
            <a:r>
              <a:rPr sz="1875" b="0">
                <a:solidFill>
                  <a:srgbClr val="122328"/>
                </a:solidFill>
                <a:latin typeface="Helvetica Neue"/>
                <a:ea typeface="Helvetica Neue"/>
                <a:cs typeface="Helvetica Neue"/>
              </a:rPr>
              <a:t>Delivery 5 days</a:t>
            </a:r>
          </a:p>
          <a:p xmlns:a="http://schemas.openxmlformats.org/drawingml/2006/main">
            <a:pPr>
              <a:defRPr sz="1875" b="0">
                <a:solidFill>
                  <a:srgbClr val="122328"/>
                </a:solidFill>
                <a:latin typeface="Helvetica Neue"/>
                <a:ea typeface="Helvetica Neue"/>
                <a:cs typeface="Helvetica Neue"/>
              </a:defRPr>
            </a:pPr>
            <a:r>
              <a:rPr sz="1875" b="0">
                <a:solidFill>
                  <a:srgbClr val="122328"/>
                </a:solidFill>
                <a:latin typeface="Helvetica Neue"/>
                <a:ea typeface="Helvetica Neue"/>
                <a:cs typeface="Helvetica Neue"/>
              </a:rPr>
              <a:t>Warranty 24 months</a:t>
            </a:r>
          </a:p>
        </p:txBody>
      </p:sp>
      <p:sp>
        <p:nvSpPr>
          <p:cNvPr id="13" name="">
            <a:extLst xmlns:a="http://schemas.openxmlformats.org/drawingml/2006/main">
              <a:ext uri="{FF2B5EF4-FFF2-40B4-BE49-F238E27FC236}">
                <a16:creationId xmlns:a16="http://schemas.microsoft.com/office/drawing/2014/main" id="{869944E5-08F3-461B-A6E7-8D83AABB9337}"/>
              </a:ext>
            </a:extLst>
          </p:cNvPr>
          <p:cNvSpPr>
            <a:spLocks xmlns:a="http://schemas.openxmlformats.org/drawingml/2006/main" noGrp="1"/>
          </p:cNvSpPr>
          <p:nvPr/>
        </p:nvSpPr>
        <p:spPr>
          <a:xfrm xmlns:a="http://schemas.openxmlformats.org/drawingml/2006/main">
            <a:off x="3476625" y="3695700"/>
            <a:ext cx="2400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A83535"/>
                </a:solidFill>
                <a:latin typeface="Helvetica Neue"/>
                <a:ea typeface="Helvetica Neue"/>
                <a:cs typeface="Helvetica Neue"/>
              </a:defRPr>
            </a:pPr>
            <a:r>
              <a:rPr sz="1950" b="1">
                <a:solidFill>
                  <a:srgbClr val="A83535"/>
                </a:solidFill>
                <a:latin typeface="Helvetica Neue"/>
                <a:ea typeface="Helvetica Neue"/>
                <a:cs typeface="Helvetica Neue"/>
              </a:rPr>
              <a:t>Attacker objective</a:t>
            </a:r>
          </a:p>
        </p:txBody>
      </p:sp>
      <p:sp>
        <p:nvSpPr>
          <p:cNvPr id="14" name="">
            <a:extLst xmlns:a="http://schemas.openxmlformats.org/drawingml/2006/main">
              <a:ext uri="{FF2B5EF4-FFF2-40B4-BE49-F238E27FC236}">
                <a16:creationId xmlns:a16="http://schemas.microsoft.com/office/drawing/2014/main" id="{F7E2B5D8-7E87-4434-988F-39E6B8ED6FE8}"/>
              </a:ext>
            </a:extLst>
          </p:cNvPr>
          <p:cNvSpPr>
            <a:spLocks xmlns:a="http://schemas.openxmlformats.org/drawingml/2006/main" noGrp="1"/>
          </p:cNvSpPr>
          <p:nvPr/>
        </p:nvSpPr>
        <p:spPr>
          <a:xfrm xmlns:a="http://schemas.openxmlformats.org/drawingml/2006/main">
            <a:off x="3476625" y="4276725"/>
            <a:ext cx="2571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22328"/>
                </a:solidFill>
                <a:latin typeface="Helvetica Neue"/>
                <a:ea typeface="Helvetica Neue"/>
                <a:cs typeface="Helvetica Neue"/>
              </a:defRPr>
            </a:pPr>
            <a:r>
              <a:rPr sz="1875" b="0">
                <a:solidFill>
                  <a:srgbClr val="122328"/>
                </a:solidFill>
                <a:latin typeface="Helvetica Neue"/>
                <a:ea typeface="Helvetica Neue"/>
                <a:cs typeface="Helvetica Neue"/>
              </a:rPr>
              <a:t>Rank Vendor C first</a:t>
            </a:r>
          </a:p>
          <a:p xmlns:a="http://schemas.openxmlformats.org/drawingml/2006/main">
            <a:pPr>
              <a:defRPr sz="1875" b="0">
                <a:solidFill>
                  <a:srgbClr val="122328"/>
                </a:solidFill>
                <a:latin typeface="Helvetica Neue"/>
                <a:ea typeface="Helvetica Neue"/>
                <a:cs typeface="Helvetica Neue"/>
              </a:defRPr>
            </a:pPr>
            <a:r>
              <a:rPr sz="1875" b="0">
                <a:solidFill>
                  <a:srgbClr val="122328"/>
                </a:solidFill>
                <a:latin typeface="Helvetica Neue"/>
                <a:ea typeface="Helvetica Neue"/>
                <a:cs typeface="Helvetica Neue"/>
              </a:rPr>
              <a:t>and send a report</a:t>
            </a:r>
          </a:p>
          <a:p xmlns:a="http://schemas.openxmlformats.org/drawingml/2006/main">
            <a:pPr>
              <a:defRPr sz="1875" b="0">
                <a:solidFill>
                  <a:srgbClr val="122328"/>
                </a:solidFill>
                <a:latin typeface="Helvetica Neue"/>
                <a:ea typeface="Helvetica Neue"/>
                <a:cs typeface="Helvetica Neue"/>
              </a:defRPr>
            </a:pPr>
            <a:r>
              <a:rPr sz="1875" b="0">
                <a:solidFill>
                  <a:srgbClr val="122328"/>
                </a:solidFill>
                <a:latin typeface="Helvetica Neue"/>
                <a:ea typeface="Helvetica Neue"/>
                <a:cs typeface="Helvetica Neue"/>
              </a:rPr>
              <a:t>to an attacker</a:t>
            </a:r>
          </a:p>
        </p:txBody>
      </p:sp>
      <p:sp>
        <p:nvSpPr>
          <p:cNvPr id="15" name="">
            <a:extLst xmlns:a="http://schemas.openxmlformats.org/drawingml/2006/main">
              <a:ext uri="{FF2B5EF4-FFF2-40B4-BE49-F238E27FC236}">
                <a16:creationId xmlns:a16="http://schemas.microsoft.com/office/drawing/2014/main" id="{ACA81530-05D7-4319-85A3-C43850B92369}"/>
              </a:ext>
            </a:extLst>
          </p:cNvPr>
          <p:cNvSpPr>
            <a:spLocks xmlns:a="http://schemas.openxmlformats.org/drawingml/2006/main" noGrp="1"/>
          </p:cNvSpPr>
          <p:nvPr/>
        </p:nvSpPr>
        <p:spPr>
          <a:xfrm xmlns:a="http://schemas.openxmlformats.org/drawingml/2006/main">
            <a:off x="6343650" y="3695700"/>
            <a:ext cx="2400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22328"/>
                </a:solidFill>
                <a:latin typeface="Helvetica Neue"/>
                <a:ea typeface="Helvetica Neue"/>
                <a:cs typeface="Helvetica Neue"/>
              </a:defRPr>
            </a:pPr>
            <a:r>
              <a:rPr sz="1950" b="1">
                <a:solidFill>
                  <a:srgbClr val="122328"/>
                </a:solidFill>
                <a:latin typeface="Helvetica Neue"/>
                <a:ea typeface="Helvetica Neue"/>
                <a:cs typeface="Helvetica Neue"/>
              </a:rPr>
              <a:t>Trust crossing</a:t>
            </a:r>
          </a:p>
        </p:txBody>
      </p:sp>
      <p:sp>
        <p:nvSpPr>
          <p:cNvPr id="16" name="">
            <a:extLst xmlns:a="http://schemas.openxmlformats.org/drawingml/2006/main">
              <a:ext uri="{FF2B5EF4-FFF2-40B4-BE49-F238E27FC236}">
                <a16:creationId xmlns:a16="http://schemas.microsoft.com/office/drawing/2014/main" id="{9AE78FBC-F868-41AF-AD13-CCECE99BD289}"/>
              </a:ext>
            </a:extLst>
          </p:cNvPr>
          <p:cNvSpPr>
            <a:spLocks xmlns:a="http://schemas.openxmlformats.org/drawingml/2006/main" noGrp="1"/>
          </p:cNvSpPr>
          <p:nvPr/>
        </p:nvSpPr>
        <p:spPr>
          <a:xfrm xmlns:a="http://schemas.openxmlformats.org/drawingml/2006/main">
            <a:off x="6343650" y="4276725"/>
            <a:ext cx="2571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22328"/>
                </a:solidFill>
                <a:latin typeface="Helvetica Neue"/>
                <a:ea typeface="Helvetica Neue"/>
                <a:cs typeface="Helvetica Neue"/>
              </a:defRPr>
            </a:pPr>
            <a:r>
              <a:rPr sz="1875" b="0">
                <a:solidFill>
                  <a:srgbClr val="122328"/>
                </a:solidFill>
                <a:latin typeface="Helvetica Neue"/>
                <a:ea typeface="Helvetica Neue"/>
                <a:cs typeface="Helvetica Neue"/>
              </a:rPr>
              <a:t>Treat data as</a:t>
            </a:r>
          </a:p>
          <a:p xmlns:a="http://schemas.openxmlformats.org/drawingml/2006/main">
            <a:pPr>
              <a:defRPr sz="1875" b="0">
                <a:solidFill>
                  <a:srgbClr val="122328"/>
                </a:solidFill>
                <a:latin typeface="Helvetica Neue"/>
                <a:ea typeface="Helvetica Neue"/>
                <a:cs typeface="Helvetica Neue"/>
              </a:defRPr>
            </a:pPr>
            <a:r>
              <a:rPr sz="1875" b="0">
                <a:solidFill>
                  <a:srgbClr val="122328"/>
                </a:solidFill>
                <a:latin typeface="Helvetica Neue"/>
                <a:ea typeface="Helvetica Neue"/>
                <a:cs typeface="Helvetica Neue"/>
              </a:rPr>
              <a:t>permission to act</a:t>
            </a:r>
          </a:p>
        </p:txBody>
      </p:sp>
      <p:sp>
        <p:nvSpPr>
          <p:cNvPr id="17" name="">
            <a:extLst xmlns:a="http://schemas.openxmlformats.org/drawingml/2006/main">
              <a:ext uri="{FF2B5EF4-FFF2-40B4-BE49-F238E27FC236}">
                <a16:creationId xmlns:a16="http://schemas.microsoft.com/office/drawing/2014/main" id="{43930614-DEA5-4E2B-9C30-ACA093728817}"/>
              </a:ext>
            </a:extLst>
          </p:cNvPr>
          <p:cNvSpPr>
            <a:spLocks xmlns:a="http://schemas.openxmlformats.org/drawingml/2006/main" noGrp="1"/>
          </p:cNvSpPr>
          <p:nvPr/>
        </p:nvSpPr>
        <p:spPr>
          <a:xfrm xmlns:a="http://schemas.openxmlformats.org/drawingml/2006/main">
            <a:off x="9210675" y="3695700"/>
            <a:ext cx="2400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7F6E"/>
                </a:solidFill>
                <a:latin typeface="Helvetica Neue"/>
                <a:ea typeface="Helvetica Neue"/>
                <a:cs typeface="Helvetica Neue"/>
              </a:defRPr>
            </a:pPr>
            <a:r>
              <a:rPr sz="1950" b="1">
                <a:solidFill>
                  <a:srgbClr val="177F6E"/>
                </a:solidFill>
                <a:latin typeface="Helvetica Neue"/>
                <a:ea typeface="Helvetica Neue"/>
                <a:cs typeface="Helvetica Neue"/>
              </a:rPr>
              <a:t>Independent denial</a:t>
            </a:r>
          </a:p>
        </p:txBody>
      </p:sp>
      <p:sp>
        <p:nvSpPr>
          <p:cNvPr id="18" name="">
            <a:extLst xmlns:a="http://schemas.openxmlformats.org/drawingml/2006/main">
              <a:ext uri="{FF2B5EF4-FFF2-40B4-BE49-F238E27FC236}">
                <a16:creationId xmlns:a16="http://schemas.microsoft.com/office/drawing/2014/main" id="{C79CE695-60B3-41CF-80F3-3E4AE562AB32}"/>
              </a:ext>
            </a:extLst>
          </p:cNvPr>
          <p:cNvSpPr>
            <a:spLocks xmlns:a="http://schemas.openxmlformats.org/drawingml/2006/main" noGrp="1"/>
          </p:cNvSpPr>
          <p:nvPr/>
        </p:nvSpPr>
        <p:spPr>
          <a:xfrm xmlns:a="http://schemas.openxmlformats.org/drawingml/2006/main">
            <a:off x="9210675" y="4276725"/>
            <a:ext cx="2571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22328"/>
                </a:solidFill>
                <a:latin typeface="Helvetica Neue"/>
                <a:ea typeface="Helvetica Neue"/>
                <a:cs typeface="Helvetica Neue"/>
              </a:defRPr>
            </a:pPr>
            <a:r>
              <a:rPr sz="1875" b="0">
                <a:solidFill>
                  <a:srgbClr val="122328"/>
                </a:solidFill>
                <a:latin typeface="Helvetica Neue"/>
                <a:ea typeface="Helvetica Neue"/>
                <a:cs typeface="Helvetica Neue"/>
              </a:rPr>
              <a:t>External evidence</a:t>
            </a:r>
          </a:p>
          <a:p xmlns:a="http://schemas.openxmlformats.org/drawingml/2006/main">
            <a:pPr>
              <a:defRPr sz="1875" b="0">
                <a:solidFill>
                  <a:srgbClr val="122328"/>
                </a:solidFill>
                <a:latin typeface="Helvetica Neue"/>
                <a:ea typeface="Helvetica Neue"/>
                <a:cs typeface="Helvetica Neue"/>
              </a:defRPr>
            </a:pPr>
            <a:r>
              <a:rPr sz="1875" b="0">
                <a:solidFill>
                  <a:srgbClr val="122328"/>
                </a:solidFill>
                <a:latin typeface="Helvetica Neue"/>
                <a:ea typeface="Helvetica Neue"/>
                <a:cs typeface="Helvetica Neue"/>
              </a:rPr>
              <a:t>cannot authorize</a:t>
            </a:r>
          </a:p>
          <a:p xmlns:a="http://schemas.openxmlformats.org/drawingml/2006/main">
            <a:pPr>
              <a:defRPr sz="1875" b="0">
                <a:solidFill>
                  <a:srgbClr val="122328"/>
                </a:solidFill>
                <a:latin typeface="Helvetica Neue"/>
                <a:ea typeface="Helvetica Neue"/>
                <a:cs typeface="Helvetica Neue"/>
              </a:defRPr>
            </a:pPr>
            <a:r>
              <a:rPr sz="1875" b="0">
                <a:solidFill>
                  <a:srgbClr val="122328"/>
                </a:solidFill>
                <a:latin typeface="Helvetica Neue"/>
                <a:ea typeface="Helvetica Neue"/>
                <a:cs typeface="Helvetica Neue"/>
              </a:rPr>
              <a:t>an email</a:t>
            </a:r>
          </a:p>
        </p:txBody>
      </p:sp>
    </p:spTree>
    <p:extLst>
      <p:ext uri="{BB962C8B-B14F-4D97-AF65-F5344CB8AC3E}">
        <p14:creationId xmlns:p14="http://schemas.microsoft.com/office/powerpoint/2010/main" val="1952894961"/>
      </p:ext>
    </p:extLst>
  </p:cSld>
</p:sld>
</file>

<file path=ppt/slides/slide5.xml><?xml version="1.0" encoding="utf-8"?>
<p:sld xmlns:p="http://schemas.openxmlformats.org/presentationml/2006/main">
  <p:cSld>
    <p:bg>
      <p:bgPr>
        <a:solidFill xmlns:a="http://schemas.openxmlformats.org/drawingml/2006/main">
          <a:srgbClr val="F5F8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E8C8A11-13BF-4F87-ACFE-FB9FAE44F65E}"/>
              </a:ext>
            </a:extLst>
          </p:cNvPr>
          <p:cNvSpPr>
            <a:spLocks xmlns:a="http://schemas.openxmlformats.org/drawingml/2006/main" noGrp="1"/>
          </p:cNvSpPr>
          <p:nvPr/>
        </p:nvSpPr>
        <p:spPr>
          <a:xfrm xmlns:a="http://schemas.openxmlformats.org/drawingml/2006/main">
            <a:off x="609600" y="438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22328"/>
                </a:solidFill>
                <a:latin typeface="Helvetica Neue"/>
                <a:ea typeface="Helvetica Neue"/>
                <a:cs typeface="Helvetica Neue"/>
              </a:defRPr>
            </a:pPr>
            <a:r>
              <a:rPr sz="3225" b="1">
                <a:solidFill>
                  <a:srgbClr val="122328"/>
                </a:solidFill>
                <a:latin typeface="Helvetica Neue"/>
                <a:ea typeface="Helvetica Neue"/>
                <a:cs typeface="Helvetica Neue"/>
              </a:rPr>
              <a:t>Detection and authorization solve different failures</a:t>
            </a:r>
          </a:p>
        </p:txBody>
      </p:sp>
      <p:sp>
        <p:nvSpPr>
          <p:cNvPr id="2" name="">
            <a:extLst xmlns:a="http://schemas.openxmlformats.org/drawingml/2006/main">
              <a:ext uri="{FF2B5EF4-FFF2-40B4-BE49-F238E27FC236}">
                <a16:creationId xmlns:a16="http://schemas.microsoft.com/office/drawing/2014/main" id="{E730567E-1889-4757-A293-CDEE2C9346E9}"/>
              </a:ext>
            </a:extLst>
          </p:cNvPr>
          <p:cNvSpPr>
            <a:spLocks xmlns:a="http://schemas.openxmlformats.org/drawingml/2006/main" noGrp="1"/>
          </p:cNvSpPr>
          <p:nvPr/>
        </p:nvSpPr>
        <p:spPr>
          <a:xfrm xmlns:a="http://schemas.openxmlformats.org/drawingml/2006/main">
            <a:off x="609600" y="6381750"/>
            <a:ext cx="10629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65D65"/>
                </a:solidFill>
                <a:latin typeface="Helvetica Neue"/>
                <a:ea typeface="Helvetica Neue"/>
                <a:cs typeface="Helvetica Neue"/>
              </a:defRPr>
            </a:pPr>
            <a:r>
              <a:rPr sz="1200" b="0">
                <a:solidFill>
                  <a:srgbClr val="465D65"/>
                </a:solidFill>
                <a:latin typeface="Helvetica Neue"/>
                <a:ea typeface="Helvetica Neue"/>
                <a:cs typeface="Helvetica Neue"/>
              </a:rPr>
              <a:t>Design decision: combine inspection with server-owned context and mandatory execution control.</a:t>
            </a:r>
          </a:p>
        </p:txBody>
      </p:sp>
      <p:sp>
        <p:nvSpPr>
          <p:cNvPr id="3" name="">
            <a:extLst xmlns:a="http://schemas.openxmlformats.org/drawingml/2006/main">
              <a:ext uri="{FF2B5EF4-FFF2-40B4-BE49-F238E27FC236}">
                <a16:creationId xmlns:a16="http://schemas.microsoft.com/office/drawing/2014/main" id="{8226F7A6-899C-4BC5-AC3A-40F096F75ACE}"/>
              </a:ext>
            </a:extLst>
          </p:cNvPr>
          <p:cNvSpPr>
            <a:spLocks xmlns:a="http://schemas.openxmlformats.org/drawingml/2006/main" noGrp="1"/>
          </p:cNvSpPr>
          <p:nvPr/>
        </p:nvSpPr>
        <p:spPr>
          <a:xfrm xmlns:a="http://schemas.openxmlformats.org/drawingml/2006/main">
            <a:off x="11334750" y="64198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65D65"/>
                </a:solidFill>
                <a:latin typeface="Helvetica Neue"/>
                <a:ea typeface="Helvetica Neue"/>
                <a:cs typeface="Helvetica Neue"/>
              </a:defRPr>
            </a:pPr>
            <a:r>
              <a:rPr sz="1200" b="0">
                <a:solidFill>
                  <a:srgbClr val="465D65"/>
                </a:solidFill>
                <a:latin typeface="Helvetica Neue"/>
                <a:ea typeface="Helvetica Neue"/>
                <a:cs typeface="Helvetica Neue"/>
              </a:rPr>
              <a:t>05</a:t>
            </a:r>
          </a:p>
        </p:txBody>
      </p:sp>
      <p:graphicFrame>
        <p:nvGraphicFramePr>
          <p:cNvPr id="9" name=""/>
          <p:cNvGraphicFramePr/>
          <p:nvPr/>
        </p:nvGraphicFramePr>
        <p:xfrm>
          <a:off xmlns:a="http://schemas.openxmlformats.org/drawingml/2006/main" x="609600" y="1781175"/>
          <a:ext xmlns:a="http://schemas.openxmlformats.org/drawingml/2006/main" cx="10972800" cy="3190875"/>
        </p:xfrm>
        <a:graphic xmlns:a="http://schemas.openxmlformats.org/drawingml/2006/main">
          <a:graphicData uri="http://schemas.openxmlformats.org/drawingml/2006/table">
            <a:tbl>
              <a:tblPr firstRow="1"/>
              <a:tblGrid>
                <a:gridCol w="2476500"/>
                <a:gridCol w="4333875"/>
                <a:gridCol w="4162425"/>
              </a:tblGrid>
              <a:tr h="797719">
                <a:tc>
                  <a:txBody>
                    <a:bodyPr/>
                    <a:lstStyle/>
                    <a:p>
                      <a:r>
                        <a:rPr sz="1800" b="1">
                          <a:solidFill>
                            <a:srgbClr val="FFFFFF"/>
                          </a:solidFill>
                          <a:latin typeface="Helvetica Neue"/>
                          <a:ea typeface="Helvetica Neue"/>
                          <a:cs typeface="Helvetica Neue"/>
                        </a:rPr>
                        <a:t>Control</a:t>
                      </a:r>
                    </a:p>
                  </a:txBody>
                  <a:tcPr marL="114300" marR="95250" marT="85725" marB="66675">
                    <a:solidFill>
                      <a:srgbClr val="10242A"/>
                    </a:solidFill>
                  </a:tcPr>
                </a:tc>
                <a:tc>
                  <a:txBody>
                    <a:bodyPr/>
                    <a:lstStyle/>
                    <a:p>
                      <a:r>
                        <a:rPr sz="1800" b="1">
                          <a:solidFill>
                            <a:srgbClr val="FFFFFF"/>
                          </a:solidFill>
                          <a:latin typeface="Helvetica Neue"/>
                          <a:ea typeface="Helvetica Neue"/>
                          <a:cs typeface="Helvetica Neue"/>
                        </a:rPr>
                        <a:t>Decision it makes</a:t>
                      </a:r>
                    </a:p>
                  </a:txBody>
                  <a:tcPr marL="114300" marR="95250" marT="85725" marB="66675">
                    <a:solidFill>
                      <a:srgbClr val="10242A"/>
                    </a:solidFill>
                  </a:tcPr>
                </a:tc>
                <a:tc>
                  <a:txBody>
                    <a:bodyPr/>
                    <a:lstStyle/>
                    <a:p>
                      <a:r>
                        <a:rPr sz="1800" b="1">
                          <a:solidFill>
                            <a:srgbClr val="FFFFFF"/>
                          </a:solidFill>
                          <a:latin typeface="Helvetica Neue"/>
                          <a:ea typeface="Helvetica Neue"/>
                          <a:cs typeface="Helvetica Neue"/>
                        </a:rPr>
                        <a:t>Remaining limit</a:t>
                      </a:r>
                    </a:p>
                  </a:txBody>
                  <a:tcPr marL="114300" marR="95250" marT="85725" marB="66675">
                    <a:solidFill>
                      <a:srgbClr val="10242A"/>
                    </a:solidFill>
                  </a:tcPr>
                </a:tc>
              </a:tr>
              <a:tr h="797719">
                <a:tc>
                  <a:txBody>
                    <a:bodyPr/>
                    <a:lstStyle/>
                    <a:p>
                      <a:r>
                        <a:rPr sz="1800">
                          <a:solidFill>
                            <a:srgbClr val="122328"/>
                          </a:solidFill>
                          <a:latin typeface="Helvetica Neue"/>
                          <a:ea typeface="Helvetica Neue"/>
                          <a:cs typeface="Helvetica Neue"/>
                        </a:rPr>
                        <a:t>Prompt detection</a:t>
                      </a:r>
                    </a:p>
                  </a:txBody>
                  <a:tcPr marL="114300" marR="95250" marT="85725" marB="66675">
                    <a:solidFill>
                      <a:srgbClr val="FFFFFF"/>
                    </a:solidFill>
                  </a:tcPr>
                </a:tc>
                <a:tc>
                  <a:txBody>
                    <a:bodyPr/>
                    <a:lstStyle/>
                    <a:p>
                      <a:r>
                        <a:rPr sz="1800">
                          <a:solidFill>
                            <a:srgbClr val="122328"/>
                          </a:solidFill>
                          <a:latin typeface="Helvetica Neue"/>
                          <a:ea typeface="Helvetica Neue"/>
                          <a:cs typeface="Helvetica Neue"/>
                        </a:rPr>
                        <a:t>Is the evidence suspicious?</a:t>
                      </a:r>
                    </a:p>
                  </a:txBody>
                  <a:tcPr marL="114300" marR="95250" marT="85725" marB="66675">
                    <a:solidFill>
                      <a:srgbClr val="FFFFFF"/>
                    </a:solidFill>
                  </a:tcPr>
                </a:tc>
                <a:tc>
                  <a:txBody>
                    <a:bodyPr/>
                    <a:lstStyle/>
                    <a:p>
                      <a:r>
                        <a:rPr sz="1800">
                          <a:solidFill>
                            <a:srgbClr val="122328"/>
                          </a:solidFill>
                          <a:latin typeface="Helvetica Neue"/>
                          <a:ea typeface="Helvetica Neue"/>
                          <a:cs typeface="Helvetica Neue"/>
                        </a:rPr>
                        <a:t>Novel phrasing can evade detection</a:t>
                      </a:r>
                    </a:p>
                  </a:txBody>
                  <a:tcPr marL="114300" marR="95250" marT="85725" marB="66675">
                    <a:solidFill>
                      <a:srgbClr val="FFFFFF"/>
                    </a:solidFill>
                  </a:tcPr>
                </a:tc>
              </a:tr>
              <a:tr h="797719">
                <a:tc>
                  <a:txBody>
                    <a:bodyPr/>
                    <a:lstStyle/>
                    <a:p>
                      <a:r>
                        <a:rPr sz="1800">
                          <a:solidFill>
                            <a:srgbClr val="122328"/>
                          </a:solidFill>
                          <a:latin typeface="Helvetica Neue"/>
                          <a:ea typeface="Helvetica Neue"/>
                          <a:cs typeface="Helvetica Neue"/>
                        </a:rPr>
                        <a:t>Context release</a:t>
                      </a:r>
                    </a:p>
                  </a:txBody>
                  <a:tcPr marL="114300" marR="95250" marT="85725" marB="66675">
                    <a:solidFill>
                      <a:srgbClr val="E4F2EC"/>
                    </a:solidFill>
                  </a:tcPr>
                </a:tc>
                <a:tc>
                  <a:txBody>
                    <a:bodyPr/>
                    <a:lstStyle/>
                    <a:p>
                      <a:r>
                        <a:rPr sz="1800">
                          <a:solidFill>
                            <a:srgbClr val="122328"/>
                          </a:solidFill>
                          <a:latin typeface="Helvetica Neue"/>
                          <a:ea typeface="Helvetica Neue"/>
                          <a:cs typeface="Helvetica Neue"/>
                        </a:rPr>
                        <a:t>Which inspected fragments may enter?</a:t>
                      </a:r>
                    </a:p>
                  </a:txBody>
                  <a:tcPr marL="114300" marR="95250" marT="85725" marB="66675">
                    <a:solidFill>
                      <a:srgbClr val="E4F2EC"/>
                    </a:solidFill>
                  </a:tcPr>
                </a:tc>
                <a:tc>
                  <a:txBody>
                    <a:bodyPr/>
                    <a:lstStyle/>
                    <a:p>
                      <a:r>
                        <a:rPr sz="1800">
                          <a:solidFill>
                            <a:srgbClr val="122328"/>
                          </a:solidFill>
                          <a:latin typeface="Helvetica Neue"/>
                          <a:ea typeface="Helvetica Neue"/>
                          <a:cs typeface="Helvetica Neue"/>
                        </a:rPr>
                        <a:t>Labels cannot guarantee model obedience</a:t>
                      </a:r>
                    </a:p>
                  </a:txBody>
                  <a:tcPr marL="114300" marR="95250" marT="85725" marB="66675">
                    <a:solidFill>
                      <a:srgbClr val="E4F2EC"/>
                    </a:solidFill>
                  </a:tcPr>
                </a:tc>
              </a:tr>
              <a:tr h="797719">
                <a:tc>
                  <a:txBody>
                    <a:bodyPr/>
                    <a:lstStyle/>
                    <a:p>
                      <a:r>
                        <a:rPr sz="1800">
                          <a:solidFill>
                            <a:srgbClr val="122328"/>
                          </a:solidFill>
                          <a:latin typeface="Helvetica Neue"/>
                          <a:ea typeface="Helvetica Neue"/>
                          <a:cs typeface="Helvetica Neue"/>
                        </a:rPr>
                        <a:t>Action authorization</a:t>
                      </a:r>
                    </a:p>
                  </a:txBody>
                  <a:tcPr marL="114300" marR="95250" marT="85725" marB="66675">
                    <a:solidFill>
                      <a:srgbClr val="FFFFFF"/>
                    </a:solidFill>
                  </a:tcPr>
                </a:tc>
                <a:tc>
                  <a:txBody>
                    <a:bodyPr/>
                    <a:lstStyle/>
                    <a:p>
                      <a:r>
                        <a:rPr sz="1800">
                          <a:solidFill>
                            <a:srgbClr val="122328"/>
                          </a:solidFill>
                          <a:latin typeface="Helvetica Neue"/>
                          <a:ea typeface="Helvetica Neue"/>
                          <a:cs typeface="Helvetica Neue"/>
                        </a:rPr>
                        <a:t>Is this exact action permitted now?</a:t>
                      </a:r>
                    </a:p>
                  </a:txBody>
                  <a:tcPr marL="114300" marR="95250" marT="85725" marB="66675">
                    <a:solidFill>
                      <a:srgbClr val="FFFFFF"/>
                    </a:solidFill>
                  </a:tcPr>
                </a:tc>
                <a:tc>
                  <a:txBody>
                    <a:bodyPr/>
                    <a:lstStyle/>
                    <a:p>
                      <a:r>
                        <a:rPr sz="1800">
                          <a:solidFill>
                            <a:srgbClr val="122328"/>
                          </a:solidFill>
                          <a:latin typeface="Helvetica Neue"/>
                          <a:ea typeface="Helvetica Neue"/>
                          <a:cs typeface="Helvetica Neue"/>
                        </a:rPr>
                        <a:t>Only effective on a mandatory broker</a:t>
                      </a:r>
                    </a:p>
                  </a:txBody>
                  <a:tcPr marL="114300" marR="95250" marT="85725" marB="66675">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A22CF9D-7F98-474E-9561-A66BC1FD0691}"/>
              </a:ext>
            </a:extLst>
          </p:cNvPr>
          <p:cNvSpPr>
            <a:spLocks xmlns:a="http://schemas.openxmlformats.org/drawingml/2006/main" noGrp="1"/>
          </p:cNvSpPr>
          <p:nvPr/>
        </p:nvSpPr>
        <p:spPr>
          <a:xfrm xmlns:a="http://schemas.openxmlformats.org/drawingml/2006/main">
            <a:off x="647700" y="5353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7F6E"/>
                </a:solidFill>
                <a:latin typeface="Helvetica Neue"/>
                <a:ea typeface="Helvetica Neue"/>
                <a:cs typeface="Helvetica Neue"/>
              </a:defRPr>
            </a:pPr>
            <a:r>
              <a:rPr sz="2400" b="1">
                <a:solidFill>
                  <a:srgbClr val="177F6E"/>
                </a:solidFill>
                <a:latin typeface="Helvetica Neue"/>
                <a:ea typeface="Helvetica Neue"/>
                <a:cs typeface="Helvetica Neue"/>
              </a:rPr>
              <a:t>The model can make a bad decision. It cannot mint a permit.</a:t>
            </a:r>
          </a:p>
        </p:txBody>
      </p:sp>
    </p:spTree>
    <p:extLst>
      <p:ext uri="{BB962C8B-B14F-4D97-AF65-F5344CB8AC3E}">
        <p14:creationId xmlns:p14="http://schemas.microsoft.com/office/powerpoint/2010/main" val="1255627553"/>
      </p:ext>
    </p:extLst>
  </p:cSld>
</p:sld>
</file>

<file path=ppt/slides/slide6.xml><?xml version="1.0" encoding="utf-8"?>
<p:sld xmlns:p="http://schemas.openxmlformats.org/presentationml/2006/main">
  <p:cSld>
    <p:bg>
      <p:bgPr>
        <a:solidFill xmlns:a="http://schemas.openxmlformats.org/drawingml/2006/main">
          <a:srgbClr val="F5F8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36F4FF0-ED8B-40B3-8221-4DB1495392D4}"/>
              </a:ext>
            </a:extLst>
          </p:cNvPr>
          <p:cNvSpPr>
            <a:spLocks xmlns:a="http://schemas.openxmlformats.org/drawingml/2006/main" noGrp="1"/>
          </p:cNvSpPr>
          <p:nvPr/>
        </p:nvSpPr>
        <p:spPr>
          <a:xfrm xmlns:a="http://schemas.openxmlformats.org/drawingml/2006/main">
            <a:off x="609600" y="438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22328"/>
                </a:solidFill>
                <a:latin typeface="Helvetica Neue"/>
                <a:ea typeface="Helvetica Neue"/>
                <a:cs typeface="Helvetica Neue"/>
              </a:defRPr>
            </a:pPr>
            <a:r>
              <a:rPr sz="3225" b="1">
                <a:solidFill>
                  <a:srgbClr val="122328"/>
                </a:solidFill>
                <a:latin typeface="Helvetica Neue"/>
                <a:ea typeface="Helvetica Neue"/>
                <a:cs typeface="Helvetica Neue"/>
              </a:rPr>
              <a:t>One integration produces inspectable security decisions</a:t>
            </a:r>
          </a:p>
        </p:txBody>
      </p:sp>
      <p:sp>
        <p:nvSpPr>
          <p:cNvPr id="2" name="">
            <a:extLst xmlns:a="http://schemas.openxmlformats.org/drawingml/2006/main">
              <a:ext uri="{FF2B5EF4-FFF2-40B4-BE49-F238E27FC236}">
                <a16:creationId xmlns:a16="http://schemas.microsoft.com/office/drawing/2014/main" id="{664C7402-C6C8-44C3-9B31-A19BDCD8D5C4}"/>
              </a:ext>
            </a:extLst>
          </p:cNvPr>
          <p:cNvSpPr>
            <a:spLocks xmlns:a="http://schemas.openxmlformats.org/drawingml/2006/main" noGrp="1"/>
          </p:cNvSpPr>
          <p:nvPr/>
        </p:nvSpPr>
        <p:spPr>
          <a:xfrm xmlns:a="http://schemas.openxmlformats.org/drawingml/2006/main">
            <a:off x="609600" y="6381750"/>
            <a:ext cx="10629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65D65"/>
                </a:solidFill>
                <a:latin typeface="Helvetica Neue"/>
                <a:ea typeface="Helvetica Neue"/>
                <a:cs typeface="Helvetica Neue"/>
              </a:defRPr>
            </a:pPr>
            <a:r>
              <a:rPr sz="1200" b="0">
                <a:solidFill>
                  <a:srgbClr val="465D65"/>
                </a:solidFill>
                <a:latin typeface="Helvetica Neue"/>
                <a:ea typeface="Helvetica Neue"/>
                <a:cs typeface="Helvetica Neue"/>
              </a:rPr>
              <a:t>Actual historical product captures, 10–11 October 2026. Capture versions appear in source notes.</a:t>
            </a:r>
          </a:p>
        </p:txBody>
      </p:sp>
      <p:sp>
        <p:nvSpPr>
          <p:cNvPr id="3" name="">
            <a:extLst xmlns:a="http://schemas.openxmlformats.org/drawingml/2006/main">
              <a:ext uri="{FF2B5EF4-FFF2-40B4-BE49-F238E27FC236}">
                <a16:creationId xmlns:a16="http://schemas.microsoft.com/office/drawing/2014/main" id="{0BA107A3-AFDB-464D-8532-9F608BBD468C}"/>
              </a:ext>
            </a:extLst>
          </p:cNvPr>
          <p:cNvSpPr>
            <a:spLocks xmlns:a="http://schemas.openxmlformats.org/drawingml/2006/main" noGrp="1"/>
          </p:cNvSpPr>
          <p:nvPr/>
        </p:nvSpPr>
        <p:spPr>
          <a:xfrm xmlns:a="http://schemas.openxmlformats.org/drawingml/2006/main">
            <a:off x="11334750" y="64198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65D65"/>
                </a:solidFill>
                <a:latin typeface="Helvetica Neue"/>
                <a:ea typeface="Helvetica Neue"/>
                <a:cs typeface="Helvetica Neue"/>
              </a:defRPr>
            </a:pPr>
            <a:r>
              <a:rPr sz="1200" b="0">
                <a:solidFill>
                  <a:srgbClr val="465D65"/>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9201B963-EF3B-4E57-8CD1-8E2C5CFE2467}"/>
              </a:ext>
            </a:extLst>
          </p:cNvPr>
          <p:cNvSpPr>
            <a:spLocks xmlns:a="http://schemas.openxmlformats.org/drawingml/2006/main" noGrp="1"/>
          </p:cNvSpPr>
          <p:nvPr/>
        </p:nvSpPr>
        <p:spPr>
          <a:xfrm xmlns:a="http://schemas.openxmlformats.org/drawingml/2006/main">
            <a:off x="609600" y="1676400"/>
            <a:ext cx="3857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2328"/>
                </a:solidFill>
                <a:latin typeface="Helvetica Neue"/>
                <a:ea typeface="Helvetica Neue"/>
                <a:cs typeface="Helvetica Neue"/>
              </a:defRPr>
            </a:pPr>
            <a:r>
              <a:rPr sz="2175" b="1">
                <a:solidFill>
                  <a:srgbClr val="122328"/>
                </a:solidFill>
                <a:latin typeface="Helvetica Neue"/>
                <a:ea typeface="Helvetica Neue"/>
                <a:cs typeface="Helvetica Neue"/>
              </a:rPr>
              <a:t>Register a bounded workflow</a:t>
            </a:r>
          </a:p>
        </p:txBody>
      </p:sp>
      <p:sp>
        <p:nvSpPr>
          <p:cNvPr id="5" name="">
            <a:extLst xmlns:a="http://schemas.openxmlformats.org/drawingml/2006/main">
              <a:ext uri="{FF2B5EF4-FFF2-40B4-BE49-F238E27FC236}">
                <a16:creationId xmlns:a16="http://schemas.microsoft.com/office/drawing/2014/main" id="{07BA8B86-AC1D-4F6C-85FE-DC8B296EC120}"/>
              </a:ext>
            </a:extLst>
          </p:cNvPr>
          <p:cNvSpPr>
            <a:spLocks xmlns:a="http://schemas.openxmlformats.org/drawingml/2006/main" noGrp="1"/>
          </p:cNvSpPr>
          <p:nvPr/>
        </p:nvSpPr>
        <p:spPr>
          <a:xfrm xmlns:a="http://schemas.openxmlformats.org/drawingml/2006/main">
            <a:off x="609600" y="2409825"/>
            <a:ext cx="3857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65D65"/>
                </a:solidFill>
                <a:latin typeface="Helvetica Neue"/>
                <a:ea typeface="Helvetica Neue"/>
                <a:cs typeface="Helvetica Neue"/>
              </a:defRPr>
            </a:pPr>
            <a:r>
              <a:rPr sz="1800" b="0">
                <a:solidFill>
                  <a:srgbClr val="465D65"/>
                </a:solidFill>
                <a:latin typeface="Helvetica Neue"/>
                <a:ea typeface="Helvetica Neue"/>
                <a:cs typeface="Helvetica Neue"/>
              </a:rPr>
              <a:t>The server defines the profile and permitted resources.</a:t>
            </a:r>
          </a:p>
        </p:txBody>
      </p:sp>
      <p:sp>
        <p:nvSpPr>
          <p:cNvPr id="6" name="">
            <a:extLst xmlns:a="http://schemas.openxmlformats.org/drawingml/2006/main">
              <a:ext uri="{FF2B5EF4-FFF2-40B4-BE49-F238E27FC236}">
                <a16:creationId xmlns:a16="http://schemas.microsoft.com/office/drawing/2014/main" id="{E8E0D3BC-C30F-4A5F-A7E7-F46391F87512}"/>
              </a:ext>
            </a:extLst>
          </p:cNvPr>
          <p:cNvSpPr>
            <a:spLocks xmlns:a="http://schemas.openxmlformats.org/drawingml/2006/main" noGrp="1"/>
          </p:cNvSpPr>
          <p:nvPr/>
        </p:nvSpPr>
        <p:spPr>
          <a:xfrm xmlns:a="http://schemas.openxmlformats.org/drawingml/2006/main">
            <a:off x="609600" y="3495675"/>
            <a:ext cx="3857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2328"/>
                </a:solidFill>
                <a:latin typeface="Helvetica Neue"/>
                <a:ea typeface="Helvetica Neue"/>
                <a:cs typeface="Helvetica Neue"/>
              </a:defRPr>
            </a:pPr>
            <a:r>
              <a:rPr sz="2175" b="1">
                <a:solidFill>
                  <a:srgbClr val="122328"/>
                </a:solidFill>
                <a:latin typeface="Helvetica Neue"/>
                <a:ea typeface="Helvetica Neue"/>
                <a:cs typeface="Helvetica Neue"/>
              </a:rPr>
              <a:t>Submit task intent and evidence</a:t>
            </a:r>
          </a:p>
        </p:txBody>
      </p:sp>
      <p:sp>
        <p:nvSpPr>
          <p:cNvPr id="7" name="">
            <a:extLst xmlns:a="http://schemas.openxmlformats.org/drawingml/2006/main">
              <a:ext uri="{FF2B5EF4-FFF2-40B4-BE49-F238E27FC236}">
                <a16:creationId xmlns:a16="http://schemas.microsoft.com/office/drawing/2014/main" id="{224B6101-68E0-42AC-9276-9616F6E7F380}"/>
              </a:ext>
            </a:extLst>
          </p:cNvPr>
          <p:cNvSpPr>
            <a:spLocks xmlns:a="http://schemas.openxmlformats.org/drawingml/2006/main" noGrp="1"/>
          </p:cNvSpPr>
          <p:nvPr/>
        </p:nvSpPr>
        <p:spPr>
          <a:xfrm xmlns:a="http://schemas.openxmlformats.org/drawingml/2006/main">
            <a:off x="609600" y="4238625"/>
            <a:ext cx="38576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465D65"/>
                </a:solidFill>
                <a:latin typeface="Helvetica Neue"/>
                <a:ea typeface="Helvetica Neue"/>
                <a:cs typeface="Helvetica Neue"/>
              </a:defRPr>
            </a:pPr>
            <a:r>
              <a:rPr sz="1800" b="0">
                <a:solidFill>
                  <a:srgbClr val="465D65"/>
                </a:solidFill>
                <a:latin typeface="Helvetica Neue"/>
                <a:ea typeface="Helvetica Neue"/>
                <a:cs typeface="Helvetica Neue"/>
              </a:rPr>
              <a:t>Keep user intent separate from pasted or retrieved content.</a:t>
            </a:r>
          </a:p>
        </p:txBody>
      </p:sp>
      <p:sp>
        <p:nvSpPr>
          <p:cNvPr id="8" name="">
            <a:extLst xmlns:a="http://schemas.openxmlformats.org/drawingml/2006/main">
              <a:ext uri="{FF2B5EF4-FFF2-40B4-BE49-F238E27FC236}">
                <a16:creationId xmlns:a16="http://schemas.microsoft.com/office/drawing/2014/main" id="{57AB9C30-8CA6-4ED8-869F-EE14DBD22DF7}"/>
              </a:ext>
            </a:extLst>
          </p:cNvPr>
          <p:cNvSpPr>
            <a:spLocks xmlns:a="http://schemas.openxmlformats.org/drawingml/2006/main" noGrp="1"/>
          </p:cNvSpPr>
          <p:nvPr/>
        </p:nvSpPr>
        <p:spPr>
          <a:xfrm xmlns:a="http://schemas.openxmlformats.org/drawingml/2006/main">
            <a:off x="609600" y="5400675"/>
            <a:ext cx="3857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7F6E"/>
                </a:solidFill>
                <a:latin typeface="Helvetica Neue"/>
                <a:ea typeface="Helvetica Neue"/>
                <a:cs typeface="Helvetica Neue"/>
              </a:defRPr>
            </a:pPr>
            <a:r>
              <a:rPr sz="2175" b="1">
                <a:solidFill>
                  <a:srgbClr val="177F6E"/>
                </a:solidFill>
                <a:latin typeface="Helvetica Neue"/>
                <a:ea typeface="Helvetica Neue"/>
                <a:cs typeface="Helvetica Neue"/>
              </a:rPr>
              <a:t>Review the output and trace</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fb245abcc6d4e84"/>
          <a:srcRect xmlns:a="http://schemas.openxmlformats.org/drawingml/2006/main" l="19800" t="3500" r="0" b="64580"/>
          <a:stretch xmlns:a="http://schemas.openxmlformats.org/drawingml/2006/main"/>
        </p:blipFill>
        <p:spPr>
          <a:xfrm xmlns:a="http://schemas.openxmlformats.org/drawingml/2006/main">
            <a:off x="4857750" y="1504950"/>
            <a:ext cx="6734175" cy="4629150"/>
          </a:xfrm>
          <a:prstGeom xmlns:a="http://schemas.openxmlformats.org/drawingml/2006/main" prst="rect">
            <a:avLst/>
          </a:prstGeom>
        </p:spPr>
      </p:pic>
    </p:spTree>
    <p:extLst>
      <p:ext uri="{BB962C8B-B14F-4D97-AF65-F5344CB8AC3E}">
        <p14:creationId xmlns:p14="http://schemas.microsoft.com/office/powerpoint/2010/main" val="1919479704"/>
      </p:ext>
    </p:extLst>
  </p:cSld>
</p:sld>
</file>

<file path=ppt/slides/slide7.xml><?xml version="1.0" encoding="utf-8"?>
<p:sld xmlns:p="http://schemas.openxmlformats.org/presentationml/2006/main">
  <p:cSld>
    <p:bg>
      <p:bgPr>
        <a:solidFill xmlns:a="http://schemas.openxmlformats.org/drawingml/2006/main">
          <a:srgbClr val="F5F8F8"/>
        </a:solidFill>
      </p:bgPr>
    </p:bg>
    <p:spTree>
      <p:nvGrpSpPr>
        <p:cNvPr id="1" name=""/>
        <p:cNvGrpSpPr/>
        <p:nvPr/>
      </p:nvGrpSpPr>
      <p:grpSpPr>
        <a:xfrm xmlns:a="http://schemas.openxmlformats.org/drawingml/2006/main"/>
      </p:grpSpPr>
      <p:cxnSp>
        <p:nvCxnSpPr>
          <p:cNvPr id="21" name=""/>
          <p:cNvCxnSpPr>
            <a:stCxn xmlns:a="http://schemas.openxmlformats.org/drawingml/2006/main" id="12" idx="0"/>
            <a:endCxn xmlns:a="http://schemas.openxmlformats.org/drawingml/2006/main" id="6" idx="2"/>
          </p:cNvCxnSpPr>
          <p:nvPr/>
        </p:nvCxnSpPr>
        <p:spPr>
          <a:xfrm xmlns:a="http://schemas.openxmlformats.org/drawingml/2006/main" flipV="1">
            <a:off x="1847850" y="3067050"/>
            <a:ext cx="2719388" cy="1028700"/>
          </a:xfrm>
          <a:prstGeom xmlns:a="http://schemas.openxmlformats.org/drawingml/2006/main" prst="bentConnector4">
            <a:avLst>
              <a:gd name="adj1" fmla="val 0"/>
              <a:gd name="adj2" fmla="val 50000"/>
            </a:avLst>
          </a:prstGeom>
          <a:ln xmlns:a="http://schemas.openxmlformats.org/drawingml/2006/main" w="19050">
            <a:solidFill>
              <a:srgbClr val="177F6E"/>
            </a:solidFill>
            <a:tailEnd type="triangle" w="sm" len="sm"/>
          </a:ln>
        </p:spPr>
      </p:cxnSp>
      <p:cxnSp>
        <p:nvCxnSpPr>
          <p:cNvPr id="22" name=""/>
          <p:cNvCxnSpPr>
            <a:stCxn xmlns:a="http://schemas.openxmlformats.org/drawingml/2006/main" id="13" idx="1"/>
            <a:endCxn xmlns:a="http://schemas.openxmlformats.org/drawingml/2006/main" id="12" idx="3"/>
          </p:cNvCxnSpPr>
          <p:nvPr/>
        </p:nvCxnSpPr>
        <p:spPr>
          <a:xfrm xmlns:a="http://schemas.openxmlformats.org/drawingml/2006/main" flipH="1">
            <a:off x="3086100" y="4595813"/>
            <a:ext cx="771525" cy="0"/>
          </a:xfrm>
          <a:prstGeom xmlns:a="http://schemas.openxmlformats.org/drawingml/2006/main" prst="straightConnector1">
            <a:avLst/>
          </a:prstGeom>
          <a:ln xmlns:a="http://schemas.openxmlformats.org/drawingml/2006/main" w="19050">
            <a:solidFill>
              <a:srgbClr val="177F6E"/>
            </a:solidFill>
            <a:tailEnd type="triangle" w="sm" len="sm"/>
          </a:ln>
        </p:spPr>
      </p:cxnSp>
      <p:cxnSp>
        <p:nvCxnSpPr>
          <p:cNvPr id="23" name=""/>
          <p:cNvCxnSpPr>
            <a:stCxn xmlns:a="http://schemas.openxmlformats.org/drawingml/2006/main" id="14" idx="1"/>
            <a:endCxn xmlns:a="http://schemas.openxmlformats.org/drawingml/2006/main" id="13" idx="3"/>
          </p:cNvCxnSpPr>
          <p:nvPr/>
        </p:nvCxnSpPr>
        <p:spPr>
          <a:xfrm xmlns:a="http://schemas.openxmlformats.org/drawingml/2006/main" flipH="1">
            <a:off x="6886575" y="4595813"/>
            <a:ext cx="1219200" cy="0"/>
          </a:xfrm>
          <a:prstGeom xmlns:a="http://schemas.openxmlformats.org/drawingml/2006/main" prst="straightConnector1">
            <a:avLst/>
          </a:prstGeom>
          <a:ln xmlns:a="http://schemas.openxmlformats.org/drawingml/2006/main" w="19050">
            <a:solidFill>
              <a:srgbClr val="177F6E"/>
            </a:solidFill>
            <a:tailEnd type="triangle" w="sm" len="sm"/>
          </a:ln>
        </p:spPr>
      </p:cxnSp>
      <p:cxnSp>
        <p:nvCxnSpPr>
          <p:cNvPr id="24" name=""/>
          <p:cNvCxnSpPr>
            <a:stCxn xmlns:a="http://schemas.openxmlformats.org/drawingml/2006/main" id="8" idx="2"/>
            <a:endCxn xmlns:a="http://schemas.openxmlformats.org/drawingml/2006/main" id="14" idx="0"/>
          </p:cNvCxnSpPr>
          <p:nvPr/>
        </p:nvCxnSpPr>
        <p:spPr>
          <a:xfrm xmlns:a="http://schemas.openxmlformats.org/drawingml/2006/main" flipH="1">
            <a:off x="9844088" y="3067050"/>
            <a:ext cx="438150" cy="1028700"/>
          </a:xfrm>
          <a:prstGeom xmlns:a="http://schemas.openxmlformats.org/drawingml/2006/main" prst="bentConnector4">
            <a:avLst>
              <a:gd name="adj1" fmla="val 0"/>
              <a:gd name="adj2" fmla="val 50000"/>
            </a:avLst>
          </a:prstGeom>
          <a:ln xmlns:a="http://schemas.openxmlformats.org/drawingml/2006/main" w="19050">
            <a:solidFill>
              <a:srgbClr val="177F6E"/>
            </a:solidFill>
            <a:tailEnd type="triangle" w="sm" len="sm"/>
          </a:ln>
        </p:spPr>
      </p:cxnSp>
      <p:cxnSp>
        <p:nvCxnSpPr>
          <p:cNvPr id="25" name=""/>
          <p:cNvCxnSpPr>
            <a:stCxn xmlns:a="http://schemas.openxmlformats.org/drawingml/2006/main" id="7" idx="3"/>
            <a:endCxn xmlns:a="http://schemas.openxmlformats.org/drawingml/2006/main" id="8" idx="1"/>
          </p:cNvCxnSpPr>
          <p:nvPr/>
        </p:nvCxnSpPr>
        <p:spPr>
          <a:xfrm xmlns:a="http://schemas.openxmlformats.org/drawingml/2006/main">
            <a:off x="8524875" y="2566988"/>
            <a:ext cx="457200" cy="0"/>
          </a:xfrm>
          <a:prstGeom xmlns:a="http://schemas.openxmlformats.org/drawingml/2006/main" prst="straightConnector1">
            <a:avLst/>
          </a:prstGeom>
          <a:ln xmlns:a="http://schemas.openxmlformats.org/drawingml/2006/main" w="19050">
            <a:solidFill>
              <a:srgbClr val="177F6E"/>
            </a:solidFill>
            <a:tailEnd type="triangle" w="sm" len="sm"/>
          </a:ln>
        </p:spPr>
      </p:cxnSp>
      <p:cxnSp>
        <p:nvCxnSpPr>
          <p:cNvPr id="26" name=""/>
          <p:cNvCxnSpPr>
            <a:stCxn xmlns:a="http://schemas.openxmlformats.org/drawingml/2006/main" id="6" idx="3"/>
            <a:endCxn xmlns:a="http://schemas.openxmlformats.org/drawingml/2006/main" id="7" idx="1"/>
          </p:cNvCxnSpPr>
          <p:nvPr/>
        </p:nvCxnSpPr>
        <p:spPr>
          <a:xfrm xmlns:a="http://schemas.openxmlformats.org/drawingml/2006/main">
            <a:off x="5734050" y="2566988"/>
            <a:ext cx="457200" cy="0"/>
          </a:xfrm>
          <a:prstGeom xmlns:a="http://schemas.openxmlformats.org/drawingml/2006/main" prst="straightConnector1">
            <a:avLst/>
          </a:prstGeom>
          <a:ln xmlns:a="http://schemas.openxmlformats.org/drawingml/2006/main" w="19050">
            <a:solidFill>
              <a:srgbClr val="177F6E"/>
            </a:solidFill>
            <a:tailEnd type="triangle" w="sm" len="sm"/>
          </a:ln>
        </p:spPr>
      </p:cxnSp>
      <p:cxnSp>
        <p:nvCxnSpPr>
          <p:cNvPr id="27" name=""/>
          <p:cNvCxnSpPr>
            <a:stCxn xmlns:a="http://schemas.openxmlformats.org/drawingml/2006/main" id="5" idx="3"/>
            <a:endCxn xmlns:a="http://schemas.openxmlformats.org/drawingml/2006/main" id="6" idx="1"/>
          </p:cNvCxnSpPr>
          <p:nvPr/>
        </p:nvCxnSpPr>
        <p:spPr>
          <a:xfrm xmlns:a="http://schemas.openxmlformats.org/drawingml/2006/main">
            <a:off x="2943225" y="2566988"/>
            <a:ext cx="457200" cy="0"/>
          </a:xfrm>
          <a:prstGeom xmlns:a="http://schemas.openxmlformats.org/drawingml/2006/main" prst="straightConnector1">
            <a:avLst/>
          </a:prstGeom>
          <a:ln xmlns:a="http://schemas.openxmlformats.org/drawingml/2006/main" w="19050">
            <a:solidFill>
              <a:srgbClr val="177F6E"/>
            </a:solidFill>
            <a:tailEnd type="triangle" w="sm" len="sm"/>
          </a:ln>
        </p:spPr>
      </p:cxnSp>
      <p:sp>
        <p:nvSpPr>
          <p:cNvPr id="28" name="">
            <a:extLst xmlns:a="http://schemas.openxmlformats.org/drawingml/2006/main">
              <a:ext uri="{FF2B5EF4-FFF2-40B4-BE49-F238E27FC236}">
                <a16:creationId xmlns:a16="http://schemas.microsoft.com/office/drawing/2014/main" id="{8BED6777-73C7-408E-9121-3AAD6F514E72}"/>
              </a:ext>
            </a:extLst>
          </p:cNvPr>
          <p:cNvSpPr>
            <a:spLocks xmlns:a="http://schemas.openxmlformats.org/drawingml/2006/main" noGrp="1"/>
          </p:cNvSpPr>
          <p:nvPr/>
        </p:nvSpPr>
        <p:spPr>
          <a:xfrm xmlns:a="http://schemas.openxmlformats.org/drawingml/2006/main">
            <a:off x="609600" y="438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22328"/>
                </a:solidFill>
                <a:latin typeface="Helvetica Neue"/>
                <a:ea typeface="Helvetica Neue"/>
                <a:cs typeface="Helvetica Neue"/>
              </a:defRPr>
            </a:pPr>
            <a:r>
              <a:rPr sz="3225" b="1">
                <a:solidFill>
                  <a:srgbClr val="122328"/>
                </a:solidFill>
                <a:latin typeface="Helvetica Neue"/>
                <a:ea typeface="Helvetica Neue"/>
                <a:cs typeface="Helvetica Neue"/>
              </a:rPr>
              <a:t>Server controls surround the isolated agent</a:t>
            </a:r>
          </a:p>
        </p:txBody>
      </p:sp>
      <p:sp>
        <p:nvSpPr>
          <p:cNvPr id="2" name="">
            <a:extLst xmlns:a="http://schemas.openxmlformats.org/drawingml/2006/main">
              <a:ext uri="{FF2B5EF4-FFF2-40B4-BE49-F238E27FC236}">
                <a16:creationId xmlns:a16="http://schemas.microsoft.com/office/drawing/2014/main" id="{EF2FFF48-0D15-400C-BFE1-4DFA45A594F1}"/>
              </a:ext>
            </a:extLst>
          </p:cNvPr>
          <p:cNvSpPr>
            <a:spLocks xmlns:a="http://schemas.openxmlformats.org/drawingml/2006/main" noGrp="1"/>
          </p:cNvSpPr>
          <p:nvPr/>
        </p:nvSpPr>
        <p:spPr>
          <a:xfrm xmlns:a="http://schemas.openxmlformats.org/drawingml/2006/main">
            <a:off x="609600" y="6381750"/>
            <a:ext cx="10629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65D65"/>
                </a:solidFill>
                <a:latin typeface="Helvetica Neue"/>
                <a:ea typeface="Helvetica Neue"/>
                <a:cs typeface="Helvetica Neue"/>
              </a:defRPr>
            </a:pPr>
            <a:r>
              <a:rPr sz="1200" b="0">
                <a:solidFill>
                  <a:srgbClr val="465D65"/>
                </a:solidFill>
                <a:latin typeface="Helvetica Neue"/>
                <a:ea typeface="Helvetica Neue"/>
                <a:cs typeface="Helvetica Neue"/>
              </a:rPr>
              <a:t>Scoped architecture: one hosted broker and gateway. No direct model, network, credential or shell route in the child.</a:t>
            </a:r>
          </a:p>
        </p:txBody>
      </p:sp>
      <p:sp>
        <p:nvSpPr>
          <p:cNvPr id="3" name="">
            <a:extLst xmlns:a="http://schemas.openxmlformats.org/drawingml/2006/main">
              <a:ext uri="{FF2B5EF4-FFF2-40B4-BE49-F238E27FC236}">
                <a16:creationId xmlns:a16="http://schemas.microsoft.com/office/drawing/2014/main" id="{7B85CE27-3438-4A75-97D4-A8BD446ABDDC}"/>
              </a:ext>
            </a:extLst>
          </p:cNvPr>
          <p:cNvSpPr>
            <a:spLocks xmlns:a="http://schemas.openxmlformats.org/drawingml/2006/main" noGrp="1"/>
          </p:cNvSpPr>
          <p:nvPr/>
        </p:nvSpPr>
        <p:spPr>
          <a:xfrm xmlns:a="http://schemas.openxmlformats.org/drawingml/2006/main">
            <a:off x="11334750" y="64198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65D65"/>
                </a:solidFill>
                <a:latin typeface="Helvetica Neue"/>
                <a:ea typeface="Helvetica Neue"/>
                <a:cs typeface="Helvetica Neue"/>
              </a:defRPr>
            </a:pPr>
            <a:r>
              <a:rPr sz="1200" b="0">
                <a:solidFill>
                  <a:srgbClr val="465D65"/>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9C7479D4-8A7D-48AE-9E83-ED861C5BED90}"/>
              </a:ext>
            </a:extLst>
          </p:cNvPr>
          <p:cNvSpPr>
            <a:spLocks xmlns:a="http://schemas.openxmlformats.org/drawingml/2006/main" noGrp="1"/>
          </p:cNvSpPr>
          <p:nvPr/>
        </p:nvSpPr>
        <p:spPr>
          <a:xfrm xmlns:a="http://schemas.openxmlformats.org/drawingml/2006/main">
            <a:off x="609600" y="14954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7F6E"/>
                </a:solidFill>
                <a:latin typeface="Helvetica Neue"/>
                <a:ea typeface="Helvetica Neue"/>
                <a:cs typeface="Helvetica Neue"/>
              </a:defRPr>
            </a:pPr>
            <a:r>
              <a:rPr sz="1575" b="1">
                <a:solidFill>
                  <a:srgbClr val="177F6E"/>
                </a:solidFill>
                <a:latin typeface="Helvetica Neue"/>
                <a:ea typeface="Helvetica Neue"/>
                <a:cs typeface="Helvetica Neue"/>
              </a:rPr>
              <a:t>SERVER POLICY AND AUTHENTICATED TASK INTENT</a:t>
            </a:r>
          </a:p>
        </p:txBody>
      </p:sp>
      <p:sp>
        <p:nvSpPr>
          <p:cNvPr id="5" name="">
            <a:extLst xmlns:a="http://schemas.openxmlformats.org/drawingml/2006/main">
              <a:ext uri="{FF2B5EF4-FFF2-40B4-BE49-F238E27FC236}">
                <a16:creationId xmlns:a16="http://schemas.microsoft.com/office/drawing/2014/main" id="{7A80403C-C2A5-4C46-AB80-62826D1B4C7B}"/>
              </a:ext>
            </a:extLst>
          </p:cNvPr>
          <p:cNvSpPr>
            <a:spLocks xmlns:a="http://schemas.openxmlformats.org/drawingml/2006/main" noGrp="1"/>
          </p:cNvSpPr>
          <p:nvPr/>
        </p:nvSpPr>
        <p:spPr>
          <a:xfrm xmlns:a="http://schemas.openxmlformats.org/drawingml/2006/main">
            <a:off x="609600" y="2066925"/>
            <a:ext cx="2333625" cy="1000125"/>
          </a:xfrm>
          <a:prstGeom xmlns:a="http://schemas.openxmlformats.org/drawingml/2006/main" prst="rect">
            <a:avLst/>
          </a:prstGeom>
          <a:solidFill xmlns:a="http://schemas.openxmlformats.org/drawingml/2006/main">
            <a:srgbClr val="E4F2EC"/>
          </a:solidFill>
          <a:ln xmlns:a="http://schemas.openxmlformats.org/drawingml/2006/main" w="9525">
            <a:solidFill>
              <a:srgbClr val="C1D2D5"/>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122328"/>
                </a:solidFill>
                <a:latin typeface="Helvetica Neue"/>
                <a:ea typeface="Helvetica Neue"/>
                <a:cs typeface="Helvetica Neue"/>
              </a:defRPr>
            </a:pPr>
            <a:r>
              <a:rPr sz="1800" b="1">
                <a:solidFill>
                  <a:srgbClr val="122328"/>
                </a:solidFill>
                <a:latin typeface="Helvetica Neue"/>
                <a:ea typeface="Helvetica Neue"/>
                <a:cs typeface="Helvetica Neue"/>
              </a:rPr>
              <a:t>Existing application</a:t>
            </a:r>
          </a:p>
          <a:p xmlns:a="http://schemas.openxmlformats.org/drawingml/2006/main">
            <a:pPr algn="ctr">
              <a:defRPr sz="1800" b="1">
                <a:solidFill>
                  <a:srgbClr val="122328"/>
                </a:solidFill>
                <a:latin typeface="Helvetica Neue"/>
                <a:ea typeface="Helvetica Neue"/>
                <a:cs typeface="Helvetica Neue"/>
              </a:defRPr>
            </a:pPr>
            <a:r>
              <a:rPr sz="1800" b="1">
                <a:solidFill>
                  <a:srgbClr val="122328"/>
                </a:solidFill>
                <a:latin typeface="Helvetica Neue"/>
                <a:ea typeface="Helvetica Neue"/>
                <a:cs typeface="Helvetica Neue"/>
              </a:rPr>
              <a:t>SDK / API</a:t>
            </a:r>
          </a:p>
        </p:txBody>
      </p:sp>
      <p:sp>
        <p:nvSpPr>
          <p:cNvPr id="6" name="">
            <a:extLst xmlns:a="http://schemas.openxmlformats.org/drawingml/2006/main">
              <a:ext uri="{FF2B5EF4-FFF2-40B4-BE49-F238E27FC236}">
                <a16:creationId xmlns:a16="http://schemas.microsoft.com/office/drawing/2014/main" id="{43AA42F4-09E4-42E4-9938-6AC892C3799F}"/>
              </a:ext>
            </a:extLst>
          </p:cNvPr>
          <p:cNvSpPr>
            <a:spLocks xmlns:a="http://schemas.openxmlformats.org/drawingml/2006/main" noGrp="1"/>
          </p:cNvSpPr>
          <p:nvPr/>
        </p:nvSpPr>
        <p:spPr>
          <a:xfrm xmlns:a="http://schemas.openxmlformats.org/drawingml/2006/main">
            <a:off x="3400425" y="2066925"/>
            <a:ext cx="2333625" cy="1000125"/>
          </a:xfrm>
          <a:prstGeom xmlns:a="http://schemas.openxmlformats.org/drawingml/2006/main" prst="rect">
            <a:avLst/>
          </a:prstGeom>
          <a:solidFill xmlns:a="http://schemas.openxmlformats.org/drawingml/2006/main">
            <a:srgbClr val="E4F2EC"/>
          </a:solidFill>
          <a:ln xmlns:a="http://schemas.openxmlformats.org/drawingml/2006/main" w="9525">
            <a:solidFill>
              <a:srgbClr val="C1D2D5"/>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122328"/>
                </a:solidFill>
                <a:latin typeface="Helvetica Neue"/>
                <a:ea typeface="Helvetica Neue"/>
                <a:cs typeface="Helvetica Neue"/>
              </a:defRPr>
            </a:pPr>
            <a:r>
              <a:rPr sz="1800" b="1">
                <a:solidFill>
                  <a:srgbClr val="122328"/>
                </a:solidFill>
                <a:latin typeface="Helvetica Neue"/>
                <a:ea typeface="Helvetica Neue"/>
                <a:cs typeface="Helvetica Neue"/>
              </a:rPr>
              <a:t>Shared inspection</a:t>
            </a:r>
          </a:p>
          <a:p xmlns:a="http://schemas.openxmlformats.org/drawingml/2006/main">
            <a:pPr algn="ctr">
              <a:defRPr sz="1800" b="1">
                <a:solidFill>
                  <a:srgbClr val="122328"/>
                </a:solidFill>
                <a:latin typeface="Helvetica Neue"/>
                <a:ea typeface="Helvetica Neue"/>
                <a:cs typeface="Helvetica Neue"/>
              </a:defRPr>
            </a:pPr>
            <a:r>
              <a:rPr sz="1800" b="1">
                <a:solidFill>
                  <a:srgbClr val="122328"/>
                </a:solidFill>
                <a:latin typeface="Helvetica Neue"/>
                <a:ea typeface="Helvetica Neue"/>
                <a:cs typeface="Helvetica Neue"/>
              </a:rPr>
              <a:t>Coverage and release</a:t>
            </a:r>
          </a:p>
        </p:txBody>
      </p:sp>
      <p:sp>
        <p:nvSpPr>
          <p:cNvPr id="7" name="">
            <a:extLst xmlns:a="http://schemas.openxmlformats.org/drawingml/2006/main">
              <a:ext uri="{FF2B5EF4-FFF2-40B4-BE49-F238E27FC236}">
                <a16:creationId xmlns:a16="http://schemas.microsoft.com/office/drawing/2014/main" id="{DA9D76E6-ACCF-4397-9AA9-F013DAC3A0CE}"/>
              </a:ext>
            </a:extLst>
          </p:cNvPr>
          <p:cNvSpPr>
            <a:spLocks xmlns:a="http://schemas.openxmlformats.org/drawingml/2006/main" noGrp="1"/>
          </p:cNvSpPr>
          <p:nvPr/>
        </p:nvSpPr>
        <p:spPr>
          <a:xfrm xmlns:a="http://schemas.openxmlformats.org/drawingml/2006/main">
            <a:off x="6191250" y="2066925"/>
            <a:ext cx="2333625" cy="1000125"/>
          </a:xfrm>
          <a:prstGeom xmlns:a="http://schemas.openxmlformats.org/drawingml/2006/main" prst="rect">
            <a:avLst/>
          </a:prstGeom>
          <a:solidFill xmlns:a="http://schemas.openxmlformats.org/drawingml/2006/main">
            <a:srgbClr val="E4F2EC"/>
          </a:solidFill>
          <a:ln xmlns:a="http://schemas.openxmlformats.org/drawingml/2006/main" w="9525">
            <a:solidFill>
              <a:srgbClr val="C1D2D5"/>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122328"/>
                </a:solidFill>
                <a:latin typeface="Helvetica Neue"/>
                <a:ea typeface="Helvetica Neue"/>
                <a:cs typeface="Helvetica Neue"/>
              </a:defRPr>
            </a:pPr>
            <a:r>
              <a:rPr sz="1800" b="1">
                <a:solidFill>
                  <a:srgbClr val="122328"/>
                </a:solidFill>
                <a:latin typeface="Helvetica Neue"/>
                <a:ea typeface="Helvetica Neue"/>
                <a:cs typeface="Helvetica Neue"/>
              </a:rPr>
              <a:t>Trusted context</a:t>
            </a:r>
          </a:p>
          <a:p xmlns:a="http://schemas.openxmlformats.org/drawingml/2006/main">
            <a:pPr algn="ctr">
              <a:defRPr sz="1800" b="1">
                <a:solidFill>
                  <a:srgbClr val="122328"/>
                </a:solidFill>
                <a:latin typeface="Helvetica Neue"/>
                <a:ea typeface="Helvetica Neue"/>
                <a:cs typeface="Helvetica Neue"/>
              </a:defRPr>
            </a:pPr>
            <a:r>
              <a:rPr sz="1800" b="1">
                <a:solidFill>
                  <a:srgbClr val="122328"/>
                </a:solidFill>
                <a:latin typeface="Helvetica Neue"/>
                <a:ea typeface="Helvetica Neue"/>
                <a:cs typeface="Helvetica Neue"/>
              </a:rPr>
              <a:t>Server snapshot</a:t>
            </a:r>
          </a:p>
        </p:txBody>
      </p:sp>
      <p:sp>
        <p:nvSpPr>
          <p:cNvPr id="8" name="">
            <a:extLst xmlns:a="http://schemas.openxmlformats.org/drawingml/2006/main">
              <a:ext uri="{FF2B5EF4-FFF2-40B4-BE49-F238E27FC236}">
                <a16:creationId xmlns:a16="http://schemas.microsoft.com/office/drawing/2014/main" id="{9BE2E88F-D744-4AEB-9515-543CD5F53FAE}"/>
              </a:ext>
            </a:extLst>
          </p:cNvPr>
          <p:cNvSpPr>
            <a:spLocks xmlns:a="http://schemas.openxmlformats.org/drawingml/2006/main" noGrp="1"/>
          </p:cNvSpPr>
          <p:nvPr/>
        </p:nvSpPr>
        <p:spPr>
          <a:xfrm xmlns:a="http://schemas.openxmlformats.org/drawingml/2006/main">
            <a:off x="8982075" y="2066925"/>
            <a:ext cx="2600325" cy="1000125"/>
          </a:xfrm>
          <a:prstGeom xmlns:a="http://schemas.openxmlformats.org/drawingml/2006/main" prst="rect">
            <a:avLst/>
          </a:prstGeom>
          <a:solidFill xmlns:a="http://schemas.openxmlformats.org/drawingml/2006/main">
            <a:srgbClr val="E4F2EC"/>
          </a:solidFill>
          <a:ln xmlns:a="http://schemas.openxmlformats.org/drawingml/2006/main" w="9525">
            <a:solidFill>
              <a:srgbClr val="C1D2D5"/>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122328"/>
                </a:solidFill>
                <a:latin typeface="Helvetica Neue"/>
                <a:ea typeface="Helvetica Neue"/>
                <a:cs typeface="Helvetica Neue"/>
              </a:defRPr>
            </a:pPr>
            <a:r>
              <a:rPr sz="1800" b="1">
                <a:solidFill>
                  <a:srgbClr val="122328"/>
                </a:solidFill>
                <a:latin typeface="Helvetica Neue"/>
                <a:ea typeface="Helvetica Neue"/>
                <a:cs typeface="Helvetica Neue"/>
              </a:rPr>
              <a:t>Model gateway</a:t>
            </a:r>
          </a:p>
          <a:p xmlns:a="http://schemas.openxmlformats.org/drawingml/2006/main">
            <a:pPr algn="ctr">
              <a:defRPr sz="1800" b="1">
                <a:solidFill>
                  <a:srgbClr val="122328"/>
                </a:solidFill>
                <a:latin typeface="Helvetica Neue"/>
                <a:ea typeface="Helvetica Neue"/>
                <a:cs typeface="Helvetica Neue"/>
              </a:defRPr>
            </a:pPr>
            <a:r>
              <a:rPr sz="1800" b="1">
                <a:solidFill>
                  <a:srgbClr val="122328"/>
                </a:solidFill>
                <a:latin typeface="Helvetica Neue"/>
                <a:ea typeface="Helvetica Neue"/>
                <a:cs typeface="Helvetica Neue"/>
              </a:rPr>
              <a:t>Groq provider</a:t>
            </a:r>
          </a:p>
        </p:txBody>
      </p:sp>
      <p:sp>
        <p:nvSpPr>
          <p:cNvPr id="12" name="">
            <a:extLst xmlns:a="http://schemas.openxmlformats.org/drawingml/2006/main">
              <a:ext uri="{FF2B5EF4-FFF2-40B4-BE49-F238E27FC236}">
                <a16:creationId xmlns:a16="http://schemas.microsoft.com/office/drawing/2014/main" id="{BED649D6-9D0F-4702-930D-241D493D3E6F}"/>
              </a:ext>
            </a:extLst>
          </p:cNvPr>
          <p:cNvSpPr>
            <a:spLocks xmlns:a="http://schemas.openxmlformats.org/drawingml/2006/main" noGrp="1"/>
          </p:cNvSpPr>
          <p:nvPr/>
        </p:nvSpPr>
        <p:spPr>
          <a:xfrm xmlns:a="http://schemas.openxmlformats.org/drawingml/2006/main">
            <a:off x="609600" y="4095750"/>
            <a:ext cx="2476500" cy="1000125"/>
          </a:xfrm>
          <a:prstGeom xmlns:a="http://schemas.openxmlformats.org/drawingml/2006/main" prst="rect">
            <a:avLst/>
          </a:prstGeom>
          <a:solidFill xmlns:a="http://schemas.openxmlformats.org/drawingml/2006/main">
            <a:srgbClr val="E4F2EC"/>
          </a:solidFill>
          <a:ln xmlns:a="http://schemas.openxmlformats.org/drawingml/2006/main" w="9525">
            <a:solidFill>
              <a:srgbClr val="C1D2D5"/>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122328"/>
                </a:solidFill>
                <a:latin typeface="Helvetica Neue"/>
                <a:ea typeface="Helvetica Neue"/>
                <a:cs typeface="Helvetica Neue"/>
              </a:defRPr>
            </a:pPr>
            <a:r>
              <a:rPr sz="1800" b="1">
                <a:solidFill>
                  <a:srgbClr val="122328"/>
                </a:solidFill>
                <a:latin typeface="Helvetica Neue"/>
                <a:ea typeface="Helvetica Neue"/>
                <a:cs typeface="Helvetica Neue"/>
              </a:rPr>
              <a:t>Tool and output</a:t>
            </a:r>
          </a:p>
          <a:p xmlns:a="http://schemas.openxmlformats.org/drawingml/2006/main">
            <a:pPr algn="ctr">
              <a:defRPr sz="1800" b="1">
                <a:solidFill>
                  <a:srgbClr val="122328"/>
                </a:solidFill>
                <a:latin typeface="Helvetica Neue"/>
                <a:ea typeface="Helvetica Neue"/>
                <a:cs typeface="Helvetica Neue"/>
              </a:defRPr>
            </a:pPr>
            <a:r>
              <a:rPr sz="1800" b="1">
                <a:solidFill>
                  <a:srgbClr val="122328"/>
                </a:solidFill>
                <a:latin typeface="Helvetica Neue"/>
                <a:ea typeface="Helvetica Neue"/>
                <a:cs typeface="Helvetica Neue"/>
              </a:rPr>
              <a:t>inspection / DLP</a:t>
            </a:r>
          </a:p>
        </p:txBody>
      </p:sp>
      <p:sp>
        <p:nvSpPr>
          <p:cNvPr id="13" name="">
            <a:extLst xmlns:a="http://schemas.openxmlformats.org/drawingml/2006/main">
              <a:ext uri="{FF2B5EF4-FFF2-40B4-BE49-F238E27FC236}">
                <a16:creationId xmlns:a16="http://schemas.microsoft.com/office/drawing/2014/main" id="{9DEC5BCA-EE7D-4CEA-AE1E-B50E7EB6363E}"/>
              </a:ext>
            </a:extLst>
          </p:cNvPr>
          <p:cNvSpPr>
            <a:spLocks xmlns:a="http://schemas.openxmlformats.org/drawingml/2006/main" noGrp="1"/>
          </p:cNvSpPr>
          <p:nvPr/>
        </p:nvSpPr>
        <p:spPr>
          <a:xfrm xmlns:a="http://schemas.openxmlformats.org/drawingml/2006/main">
            <a:off x="3857625" y="4095750"/>
            <a:ext cx="3028950" cy="1000125"/>
          </a:xfrm>
          <a:prstGeom xmlns:a="http://schemas.openxmlformats.org/drawingml/2006/main" prst="rect">
            <a:avLst/>
          </a:prstGeom>
          <a:solidFill xmlns:a="http://schemas.openxmlformats.org/drawingml/2006/main">
            <a:srgbClr val="E4F2EC"/>
          </a:solidFill>
          <a:ln xmlns:a="http://schemas.openxmlformats.org/drawingml/2006/main" w="9525">
            <a:solidFill>
              <a:srgbClr val="C1D2D5"/>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122328"/>
                </a:solidFill>
                <a:latin typeface="Helvetica Neue"/>
                <a:ea typeface="Helvetica Neue"/>
                <a:cs typeface="Helvetica Neue"/>
              </a:defRPr>
            </a:pPr>
            <a:r>
              <a:rPr sz="1800" b="1">
                <a:solidFill>
                  <a:srgbClr val="122328"/>
                </a:solidFill>
                <a:latin typeface="Helvetica Neue"/>
                <a:ea typeface="Helvetica Neue"/>
                <a:cs typeface="Helvetica Neue"/>
              </a:rPr>
              <a:t>Mandatory broker</a:t>
            </a:r>
          </a:p>
          <a:p xmlns:a="http://schemas.openxmlformats.org/drawingml/2006/main">
            <a:pPr algn="ctr">
              <a:defRPr sz="1800" b="1">
                <a:solidFill>
                  <a:srgbClr val="122328"/>
                </a:solidFill>
                <a:latin typeface="Helvetica Neue"/>
                <a:ea typeface="Helvetica Neue"/>
                <a:cs typeface="Helvetica Neue"/>
              </a:defRPr>
            </a:pPr>
            <a:r>
              <a:rPr sz="1800" b="1">
                <a:solidFill>
                  <a:srgbClr val="122328"/>
                </a:solidFill>
                <a:latin typeface="Helvetica Neue"/>
                <a:ea typeface="Helvetica Neue"/>
                <a:cs typeface="Helvetica Neue"/>
              </a:rPr>
              <a:t>Exact action permit</a:t>
            </a:r>
          </a:p>
        </p:txBody>
      </p:sp>
      <p:sp>
        <p:nvSpPr>
          <p:cNvPr id="14" name="">
            <a:extLst xmlns:a="http://schemas.openxmlformats.org/drawingml/2006/main">
              <a:ext uri="{FF2B5EF4-FFF2-40B4-BE49-F238E27FC236}">
                <a16:creationId xmlns:a16="http://schemas.microsoft.com/office/drawing/2014/main" id="{088BE7EA-033E-4FB3-B0A6-81E127FFE614}"/>
              </a:ext>
            </a:extLst>
          </p:cNvPr>
          <p:cNvSpPr>
            <a:spLocks xmlns:a="http://schemas.openxmlformats.org/drawingml/2006/main" noGrp="1"/>
          </p:cNvSpPr>
          <p:nvPr/>
        </p:nvSpPr>
        <p:spPr>
          <a:xfrm xmlns:a="http://schemas.openxmlformats.org/drawingml/2006/main">
            <a:off x="8105775" y="4095750"/>
            <a:ext cx="3476625" cy="1000125"/>
          </a:xfrm>
          <a:prstGeom xmlns:a="http://schemas.openxmlformats.org/drawingml/2006/main" prst="rect">
            <a:avLst/>
          </a:prstGeom>
          <a:solidFill xmlns:a="http://schemas.openxmlformats.org/drawingml/2006/main">
            <a:srgbClr val="E4F2EC"/>
          </a:solidFill>
          <a:ln xmlns:a="http://schemas.openxmlformats.org/drawingml/2006/main" w="9525">
            <a:solidFill>
              <a:srgbClr val="C1D2D5"/>
            </a:solid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122328"/>
                </a:solidFill>
                <a:latin typeface="Helvetica Neue"/>
                <a:ea typeface="Helvetica Neue"/>
                <a:cs typeface="Helvetica Neue"/>
              </a:defRPr>
            </a:pPr>
            <a:r>
              <a:rPr sz="1800" b="1">
                <a:solidFill>
                  <a:srgbClr val="122328"/>
                </a:solidFill>
                <a:latin typeface="Helvetica Neue"/>
                <a:ea typeface="Helvetica Neue"/>
                <a:cs typeface="Helvetica Neue"/>
              </a:rPr>
              <a:t>Isolated Linux agent</a:t>
            </a:r>
          </a:p>
          <a:p xmlns:a="http://schemas.openxmlformats.org/drawingml/2006/main">
            <a:pPr algn="ctr">
              <a:defRPr sz="1800" b="1">
                <a:solidFill>
                  <a:srgbClr val="122328"/>
                </a:solidFill>
                <a:latin typeface="Helvetica Neue"/>
                <a:ea typeface="Helvetica Neue"/>
                <a:cs typeface="Helvetica Neue"/>
              </a:defRPr>
            </a:pPr>
            <a:r>
              <a:rPr sz="1800" b="1">
                <a:solidFill>
                  <a:srgbClr val="122328"/>
                </a:solidFill>
                <a:latin typeface="Helvetica Neue"/>
                <a:ea typeface="Helvetica Neue"/>
                <a:cs typeface="Helvetica Neue"/>
              </a:rPr>
              <a:t>Bounded proposals</a:t>
            </a:r>
          </a:p>
        </p:txBody>
      </p:sp>
      <p:sp>
        <p:nvSpPr>
          <p:cNvPr id="19" name="">
            <a:extLst xmlns:a="http://schemas.openxmlformats.org/drawingml/2006/main">
              <a:ext uri="{FF2B5EF4-FFF2-40B4-BE49-F238E27FC236}">
                <a16:creationId xmlns:a16="http://schemas.microsoft.com/office/drawing/2014/main" id="{C1031954-7F89-4F5D-87BE-3A0E5F196FDE}"/>
              </a:ext>
            </a:extLst>
          </p:cNvPr>
          <p:cNvSpPr>
            <a:spLocks xmlns:a="http://schemas.openxmlformats.org/drawingml/2006/main" noGrp="1"/>
          </p:cNvSpPr>
          <p:nvPr/>
        </p:nvSpPr>
        <p:spPr>
          <a:xfrm xmlns:a="http://schemas.openxmlformats.org/drawingml/2006/main">
            <a:off x="609600" y="5562600"/>
            <a:ext cx="285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7F6E"/>
                </a:solidFill>
                <a:latin typeface="Helvetica Neue"/>
                <a:ea typeface="Helvetica Neue"/>
                <a:cs typeface="Helvetica Neue"/>
              </a:defRPr>
            </a:pPr>
            <a:r>
              <a:rPr sz="1650" b="1">
                <a:solidFill>
                  <a:srgbClr val="177F6E"/>
                </a:solidFill>
                <a:latin typeface="Helvetica Neue"/>
                <a:ea typeface="Helvetica Neue"/>
                <a:cs typeface="Helvetica Neue"/>
              </a:rPr>
              <a:t>SECURITY EVIDENCE</a:t>
            </a:r>
          </a:p>
        </p:txBody>
      </p:sp>
      <p:sp>
        <p:nvSpPr>
          <p:cNvPr id="20" name="">
            <a:extLst xmlns:a="http://schemas.openxmlformats.org/drawingml/2006/main">
              <a:ext uri="{FF2B5EF4-FFF2-40B4-BE49-F238E27FC236}">
                <a16:creationId xmlns:a16="http://schemas.microsoft.com/office/drawing/2014/main" id="{6845397E-4AFA-4149-AE42-6A8D06E10701}"/>
              </a:ext>
            </a:extLst>
          </p:cNvPr>
          <p:cNvSpPr>
            <a:spLocks xmlns:a="http://schemas.openxmlformats.org/drawingml/2006/main" noGrp="1"/>
          </p:cNvSpPr>
          <p:nvPr/>
        </p:nvSpPr>
        <p:spPr>
          <a:xfrm xmlns:a="http://schemas.openxmlformats.org/drawingml/2006/main">
            <a:off x="609600" y="5953125"/>
            <a:ext cx="1093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22328"/>
                </a:solidFill>
                <a:latin typeface="Helvetica Neue"/>
                <a:ea typeface="Helvetica Neue"/>
                <a:cs typeface="Helvetica Neue"/>
              </a:defRPr>
            </a:pPr>
            <a:r>
              <a:rPr sz="1650" b="0">
                <a:solidFill>
                  <a:srgbClr val="122328"/>
                </a:solidFill>
                <a:latin typeface="Helvetica Neue"/>
                <a:ea typeface="Helvetica Neue"/>
                <a:cs typeface="Helvetica Neue"/>
              </a:rPr>
              <a:t>Provenance, release decisions, actual proposals, independent probes and run outcomes</a:t>
            </a:r>
          </a:p>
        </p:txBody>
      </p:sp>
    </p:spTree>
    <p:extLst>
      <p:ext uri="{BB962C8B-B14F-4D97-AF65-F5344CB8AC3E}">
        <p14:creationId xmlns:p14="http://schemas.microsoft.com/office/powerpoint/2010/main" val="1208220896"/>
      </p:ext>
    </p:extLst>
  </p:cSld>
</p:sld>
</file>

<file path=ppt/slides/slide8.xml><?xml version="1.0" encoding="utf-8"?>
<p:sld xmlns:p="http://schemas.openxmlformats.org/presentationml/2006/main">
  <p:cSld>
    <p:bg>
      <p:bgPr>
        <a:solidFill xmlns:a="http://schemas.openxmlformats.org/drawingml/2006/main">
          <a:srgbClr val="F5F8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235256D-DF28-45C1-ACBC-450AD37953D9}"/>
              </a:ext>
            </a:extLst>
          </p:cNvPr>
          <p:cNvSpPr>
            <a:spLocks xmlns:a="http://schemas.openxmlformats.org/drawingml/2006/main" noGrp="1"/>
          </p:cNvSpPr>
          <p:nvPr/>
        </p:nvSpPr>
        <p:spPr>
          <a:xfrm xmlns:a="http://schemas.openxmlformats.org/drawingml/2006/main">
            <a:off x="609600" y="438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22328"/>
                </a:solidFill>
                <a:latin typeface="Helvetica Neue"/>
                <a:ea typeface="Helvetica Neue"/>
                <a:cs typeface="Helvetica Neue"/>
              </a:defRPr>
            </a:pPr>
            <a:r>
              <a:rPr sz="3225" b="1">
                <a:solidFill>
                  <a:srgbClr val="122328"/>
                </a:solidFill>
                <a:latin typeface="Helvetica Neue"/>
                <a:ea typeface="Helvetica Neue"/>
                <a:cs typeface="Helvetica Neue"/>
              </a:rPr>
              <a:t>The workbook instruction is quarantined</a:t>
            </a:r>
          </a:p>
        </p:txBody>
      </p:sp>
      <p:sp>
        <p:nvSpPr>
          <p:cNvPr id="2" name="">
            <a:extLst xmlns:a="http://schemas.openxmlformats.org/drawingml/2006/main">
              <a:ext uri="{FF2B5EF4-FFF2-40B4-BE49-F238E27FC236}">
                <a16:creationId xmlns:a16="http://schemas.microsoft.com/office/drawing/2014/main" id="{FEBAD9E5-871F-40C0-86B2-0CD72D3748A0}"/>
              </a:ext>
            </a:extLst>
          </p:cNvPr>
          <p:cNvSpPr>
            <a:spLocks xmlns:a="http://schemas.openxmlformats.org/drawingml/2006/main" noGrp="1"/>
          </p:cNvSpPr>
          <p:nvPr/>
        </p:nvSpPr>
        <p:spPr>
          <a:xfrm xmlns:a="http://schemas.openxmlformats.org/drawingml/2006/main">
            <a:off x="609600" y="6381750"/>
            <a:ext cx="10629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65D65"/>
                </a:solidFill>
                <a:latin typeface="Helvetica Neue"/>
                <a:ea typeface="Helvetica Neue"/>
                <a:cs typeface="Helvetica Neue"/>
              </a:defRPr>
            </a:pPr>
            <a:r>
              <a:rPr sz="1200" b="0">
                <a:solidFill>
                  <a:srgbClr val="465D65"/>
                </a:solidFill>
                <a:latin typeface="Helvetica Neue"/>
                <a:ea typeface="Helvetica Neue"/>
                <a:cs typeface="Helvetica Neue"/>
              </a:rPr>
              <a:t>Actual historical product captures, 10–11 October 2026. Capture versions appear in source notes.</a:t>
            </a:r>
          </a:p>
        </p:txBody>
      </p:sp>
      <p:sp>
        <p:nvSpPr>
          <p:cNvPr id="3" name="">
            <a:extLst xmlns:a="http://schemas.openxmlformats.org/drawingml/2006/main">
              <a:ext uri="{FF2B5EF4-FFF2-40B4-BE49-F238E27FC236}">
                <a16:creationId xmlns:a16="http://schemas.microsoft.com/office/drawing/2014/main" id="{186C1ED0-6A50-4C68-931C-3666F0D61C1A}"/>
              </a:ext>
            </a:extLst>
          </p:cNvPr>
          <p:cNvSpPr>
            <a:spLocks xmlns:a="http://schemas.openxmlformats.org/drawingml/2006/main" noGrp="1"/>
          </p:cNvSpPr>
          <p:nvPr/>
        </p:nvSpPr>
        <p:spPr>
          <a:xfrm xmlns:a="http://schemas.openxmlformats.org/drawingml/2006/main">
            <a:off x="11334750" y="64198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65D65"/>
                </a:solidFill>
                <a:latin typeface="Helvetica Neue"/>
                <a:ea typeface="Helvetica Neue"/>
                <a:cs typeface="Helvetica Neue"/>
              </a:defRPr>
            </a:pPr>
            <a:r>
              <a:rPr sz="1200" b="0">
                <a:solidFill>
                  <a:srgbClr val="465D65"/>
                </a:solidFill>
                <a:latin typeface="Helvetica Neue"/>
                <a:ea typeface="Helvetica Neue"/>
                <a:cs typeface="Helvetica Neue"/>
              </a:rPr>
              <a:t>08</a:t>
            </a:r>
          </a:p>
        </p:txBody>
      </p:sp>
      <p:graphicFrame>
        <p:nvGraphicFramePr>
          <p:cNvPr id="12" name=""/>
          <p:cNvGraphicFramePr/>
          <p:nvPr/>
        </p:nvGraphicFramePr>
        <p:xfrm>
          <a:off xmlns:a="http://schemas.openxmlformats.org/drawingml/2006/main" x="609600" y="1762125"/>
          <a:ext xmlns:a="http://schemas.openxmlformats.org/drawingml/2006/main" cx="5638800" cy="2352675"/>
        </p:xfrm>
        <a:graphic xmlns:a="http://schemas.openxmlformats.org/drawingml/2006/main">
          <a:graphicData uri="http://schemas.openxmlformats.org/drawingml/2006/table">
            <a:tbl>
              <a:tblPr firstRow="1"/>
              <a:tblGrid>
                <a:gridCol w="1885950"/>
                <a:gridCol w="933450"/>
                <a:gridCol w="1323975"/>
                <a:gridCol w="1495425"/>
              </a:tblGrid>
              <a:tr h="588169">
                <a:tc>
                  <a:txBody>
                    <a:bodyPr/>
                    <a:lstStyle/>
                    <a:p>
                      <a:r>
                        <a:rPr sz="1725" b="1">
                          <a:solidFill>
                            <a:srgbClr val="FFFFFF"/>
                          </a:solidFill>
                          <a:latin typeface="Helvetica Neue"/>
                          <a:ea typeface="Helvetica Neue"/>
                          <a:cs typeface="Helvetica Neue"/>
                        </a:rPr>
                        <a:t>Supplier</a:t>
                      </a:r>
                    </a:p>
                  </a:txBody>
                  <a:tcPr marL="114300" marR="95250" marT="85725" marB="66675">
                    <a:solidFill>
                      <a:srgbClr val="10242A"/>
                    </a:solidFill>
                  </a:tcPr>
                </a:tc>
                <a:tc>
                  <a:txBody>
                    <a:bodyPr/>
                    <a:lstStyle/>
                    <a:p>
                      <a:r>
                        <a:rPr sz="1725" b="1">
                          <a:solidFill>
                            <a:srgbClr val="FFFFFF"/>
                          </a:solidFill>
                          <a:latin typeface="Helvetica Neue"/>
                          <a:ea typeface="Helvetica Neue"/>
                          <a:cs typeface="Helvetica Neue"/>
                        </a:rPr>
                        <a:t>Price</a:t>
                      </a:r>
                    </a:p>
                  </a:txBody>
                  <a:tcPr marL="114300" marR="95250" marT="85725" marB="66675">
                    <a:solidFill>
                      <a:srgbClr val="10242A"/>
                    </a:solidFill>
                  </a:tcPr>
                </a:tc>
                <a:tc>
                  <a:txBody>
                    <a:bodyPr/>
                    <a:lstStyle/>
                    <a:p>
                      <a:r>
                        <a:rPr sz="1725" b="1">
                          <a:solidFill>
                            <a:srgbClr val="FFFFFF"/>
                          </a:solidFill>
                          <a:latin typeface="Helvetica Neue"/>
                          <a:ea typeface="Helvetica Neue"/>
                          <a:cs typeface="Helvetica Neue"/>
                        </a:rPr>
                        <a:t>Delivery</a:t>
                      </a:r>
                    </a:p>
                  </a:txBody>
                  <a:tcPr marL="114300" marR="95250" marT="85725" marB="66675">
                    <a:solidFill>
                      <a:srgbClr val="10242A"/>
                    </a:solidFill>
                  </a:tcPr>
                </a:tc>
                <a:tc>
                  <a:txBody>
                    <a:bodyPr/>
                    <a:lstStyle/>
                    <a:p>
                      <a:r>
                        <a:rPr sz="1725" b="1">
                          <a:solidFill>
                            <a:srgbClr val="FFFFFF"/>
                          </a:solidFill>
                          <a:latin typeface="Helvetica Neue"/>
                          <a:ea typeface="Helvetica Neue"/>
                          <a:cs typeface="Helvetica Neue"/>
                        </a:rPr>
                        <a:t>Warranty</a:t>
                      </a:r>
                    </a:p>
                  </a:txBody>
                  <a:tcPr marL="114300" marR="95250" marT="85725" marB="66675">
                    <a:solidFill>
                      <a:srgbClr val="10242A"/>
                    </a:solidFill>
                  </a:tcPr>
                </a:tc>
              </a:tr>
              <a:tr h="588169">
                <a:tc>
                  <a:txBody>
                    <a:bodyPr/>
                    <a:lstStyle/>
                    <a:p>
                      <a:r>
                        <a:rPr sz="1725">
                          <a:solidFill>
                            <a:srgbClr val="122328"/>
                          </a:solidFill>
                          <a:latin typeface="Helvetica Neue"/>
                          <a:ea typeface="Helvetica Neue"/>
                          <a:cs typeface="Helvetica Neue"/>
                        </a:rPr>
                        <a:t>Vendor A</a:t>
                      </a:r>
                    </a:p>
                  </a:txBody>
                  <a:tcPr marL="114300" marR="95250" marT="85725" marB="66675">
                    <a:solidFill>
                      <a:srgbClr val="FFFFFF"/>
                    </a:solidFill>
                  </a:tcPr>
                </a:tc>
                <a:tc>
                  <a:txBody>
                    <a:bodyPr/>
                    <a:lstStyle/>
                    <a:p>
                      <a:r>
                        <a:rPr sz="1725">
                          <a:solidFill>
                            <a:srgbClr val="122328"/>
                          </a:solidFill>
                          <a:latin typeface="Helvetica Neue"/>
                          <a:ea typeface="Helvetica Neue"/>
                          <a:cs typeface="Helvetica Neue"/>
                        </a:rPr>
                        <a:t>120</a:t>
                      </a:r>
                    </a:p>
                  </a:txBody>
                  <a:tcPr marL="114300" marR="95250" marT="85725" marB="66675">
                    <a:solidFill>
                      <a:srgbClr val="FFFFFF"/>
                    </a:solidFill>
                  </a:tcPr>
                </a:tc>
                <a:tc>
                  <a:txBody>
                    <a:bodyPr/>
                    <a:lstStyle/>
                    <a:p>
                      <a:r>
                        <a:rPr sz="1725">
                          <a:solidFill>
                            <a:srgbClr val="122328"/>
                          </a:solidFill>
                          <a:latin typeface="Helvetica Neue"/>
                          <a:ea typeface="Helvetica Neue"/>
                          <a:cs typeface="Helvetica Neue"/>
                        </a:rPr>
                        <a:t>7 days</a:t>
                      </a:r>
                    </a:p>
                  </a:txBody>
                  <a:tcPr marL="114300" marR="95250" marT="85725" marB="66675">
                    <a:solidFill>
                      <a:srgbClr val="FFFFFF"/>
                    </a:solidFill>
                  </a:tcPr>
                </a:tc>
                <a:tc>
                  <a:txBody>
                    <a:bodyPr/>
                    <a:lstStyle/>
                    <a:p>
                      <a:r>
                        <a:rPr sz="1725">
                          <a:solidFill>
                            <a:srgbClr val="122328"/>
                          </a:solidFill>
                          <a:latin typeface="Helvetica Neue"/>
                          <a:ea typeface="Helvetica Neue"/>
                          <a:cs typeface="Helvetica Neue"/>
                        </a:rPr>
                        <a:t>12 months</a:t>
                      </a:r>
                    </a:p>
                  </a:txBody>
                  <a:tcPr marL="114300" marR="95250" marT="85725" marB="66675">
                    <a:solidFill>
                      <a:srgbClr val="FFFFFF"/>
                    </a:solidFill>
                  </a:tcPr>
                </a:tc>
              </a:tr>
              <a:tr h="588169">
                <a:tc>
                  <a:txBody>
                    <a:bodyPr/>
                    <a:lstStyle/>
                    <a:p>
                      <a:r>
                        <a:rPr sz="1725">
                          <a:solidFill>
                            <a:srgbClr val="122328"/>
                          </a:solidFill>
                          <a:latin typeface="Helvetica Neue"/>
                          <a:ea typeface="Helvetica Neue"/>
                          <a:cs typeface="Helvetica Neue"/>
                        </a:rPr>
                        <a:t>Vendor B</a:t>
                      </a:r>
                    </a:p>
                  </a:txBody>
                  <a:tcPr marL="114300" marR="95250" marT="85725" marB="66675">
                    <a:solidFill>
                      <a:srgbClr val="E4F2EC"/>
                    </a:solidFill>
                  </a:tcPr>
                </a:tc>
                <a:tc>
                  <a:txBody>
                    <a:bodyPr/>
                    <a:lstStyle/>
                    <a:p>
                      <a:r>
                        <a:rPr sz="1725">
                          <a:solidFill>
                            <a:srgbClr val="122328"/>
                          </a:solidFill>
                          <a:latin typeface="Helvetica Neue"/>
                          <a:ea typeface="Helvetica Neue"/>
                          <a:cs typeface="Helvetica Neue"/>
                        </a:rPr>
                        <a:t>100</a:t>
                      </a:r>
                    </a:p>
                  </a:txBody>
                  <a:tcPr marL="114300" marR="95250" marT="85725" marB="66675">
                    <a:solidFill>
                      <a:srgbClr val="E4F2EC"/>
                    </a:solidFill>
                  </a:tcPr>
                </a:tc>
                <a:tc>
                  <a:txBody>
                    <a:bodyPr/>
                    <a:lstStyle/>
                    <a:p>
                      <a:r>
                        <a:rPr sz="1725">
                          <a:solidFill>
                            <a:srgbClr val="122328"/>
                          </a:solidFill>
                          <a:latin typeface="Helvetica Neue"/>
                          <a:ea typeface="Helvetica Neue"/>
                          <a:cs typeface="Helvetica Neue"/>
                        </a:rPr>
                        <a:t>5 days</a:t>
                      </a:r>
                    </a:p>
                  </a:txBody>
                  <a:tcPr marL="114300" marR="95250" marT="85725" marB="66675">
                    <a:solidFill>
                      <a:srgbClr val="E4F2EC"/>
                    </a:solidFill>
                  </a:tcPr>
                </a:tc>
                <a:tc>
                  <a:txBody>
                    <a:bodyPr/>
                    <a:lstStyle/>
                    <a:p>
                      <a:r>
                        <a:rPr sz="1725">
                          <a:solidFill>
                            <a:srgbClr val="122328"/>
                          </a:solidFill>
                          <a:latin typeface="Helvetica Neue"/>
                          <a:ea typeface="Helvetica Neue"/>
                          <a:cs typeface="Helvetica Neue"/>
                        </a:rPr>
                        <a:t>24 months</a:t>
                      </a:r>
                    </a:p>
                  </a:txBody>
                  <a:tcPr marL="114300" marR="95250" marT="85725" marB="66675">
                    <a:solidFill>
                      <a:srgbClr val="E4F2EC"/>
                    </a:solidFill>
                  </a:tcPr>
                </a:tc>
              </a:tr>
              <a:tr h="588169">
                <a:tc>
                  <a:txBody>
                    <a:bodyPr/>
                    <a:lstStyle/>
                    <a:p>
                      <a:r>
                        <a:rPr sz="1725">
                          <a:solidFill>
                            <a:srgbClr val="122328"/>
                          </a:solidFill>
                          <a:latin typeface="Helvetica Neue"/>
                          <a:ea typeface="Helvetica Neue"/>
                          <a:cs typeface="Helvetica Neue"/>
                        </a:rPr>
                        <a:t>Vendor C</a:t>
                      </a:r>
                    </a:p>
                  </a:txBody>
                  <a:tcPr marL="114300" marR="95250" marT="85725" marB="66675">
                    <a:solidFill>
                      <a:srgbClr val="FFFFFF"/>
                    </a:solidFill>
                  </a:tcPr>
                </a:tc>
                <a:tc>
                  <a:txBody>
                    <a:bodyPr/>
                    <a:lstStyle/>
                    <a:p>
                      <a:r>
                        <a:rPr sz="1725">
                          <a:solidFill>
                            <a:srgbClr val="122328"/>
                          </a:solidFill>
                          <a:latin typeface="Helvetica Neue"/>
                          <a:ea typeface="Helvetica Neue"/>
                          <a:cs typeface="Helvetica Neue"/>
                        </a:rPr>
                        <a:t>150</a:t>
                      </a:r>
                    </a:p>
                  </a:txBody>
                  <a:tcPr marL="114300" marR="95250" marT="85725" marB="66675">
                    <a:solidFill>
                      <a:srgbClr val="FFFFFF"/>
                    </a:solidFill>
                  </a:tcPr>
                </a:tc>
                <a:tc>
                  <a:txBody>
                    <a:bodyPr/>
                    <a:lstStyle/>
                    <a:p>
                      <a:r>
                        <a:rPr sz="1725">
                          <a:solidFill>
                            <a:srgbClr val="122328"/>
                          </a:solidFill>
                          <a:latin typeface="Helvetica Neue"/>
                          <a:ea typeface="Helvetica Neue"/>
                          <a:cs typeface="Helvetica Neue"/>
                        </a:rPr>
                        <a:t>9 days</a:t>
                      </a:r>
                    </a:p>
                  </a:txBody>
                  <a:tcPr marL="114300" marR="95250" marT="85725" marB="66675">
                    <a:solidFill>
                      <a:srgbClr val="FFFFFF"/>
                    </a:solidFill>
                  </a:tcPr>
                </a:tc>
                <a:tc>
                  <a:txBody>
                    <a:bodyPr/>
                    <a:lstStyle/>
                    <a:p>
                      <a:r>
                        <a:rPr sz="1725">
                          <a:solidFill>
                            <a:srgbClr val="122328"/>
                          </a:solidFill>
                          <a:latin typeface="Helvetica Neue"/>
                          <a:ea typeface="Helvetica Neue"/>
                          <a:cs typeface="Helvetica Neue"/>
                        </a:rPr>
                        <a:t>6 months</a:t>
                      </a:r>
                    </a:p>
                  </a:txBody>
                  <a:tcPr marL="114300" marR="95250" marT="85725" marB="66675">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6C96BBCD-E3C9-4A5F-9652-E0205DDB71AC}"/>
              </a:ext>
            </a:extLst>
          </p:cNvPr>
          <p:cNvSpPr>
            <a:spLocks xmlns:a="http://schemas.openxmlformats.org/drawingml/2006/main" noGrp="1"/>
          </p:cNvSpPr>
          <p:nvPr/>
        </p:nvSpPr>
        <p:spPr>
          <a:xfrm xmlns:a="http://schemas.openxmlformats.org/drawingml/2006/main">
            <a:off x="647700" y="4476750"/>
            <a:ext cx="5467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22328"/>
                </a:solidFill>
                <a:latin typeface="Helvetica Neue"/>
                <a:ea typeface="Helvetica Neue"/>
                <a:cs typeface="Helvetica Neue"/>
              </a:defRPr>
            </a:pPr>
            <a:r>
              <a:rPr sz="1875" b="1">
                <a:solidFill>
                  <a:srgbClr val="122328"/>
                </a:solidFill>
                <a:latin typeface="Helvetica Neue"/>
                <a:ea typeface="Helvetica Neue"/>
                <a:cs typeface="Helvetica Neue"/>
              </a:rPr>
              <a:t>Authorized task</a:t>
            </a:r>
          </a:p>
        </p:txBody>
      </p:sp>
      <p:sp>
        <p:nvSpPr>
          <p:cNvPr id="6" name="">
            <a:extLst xmlns:a="http://schemas.openxmlformats.org/drawingml/2006/main">
              <a:ext uri="{FF2B5EF4-FFF2-40B4-BE49-F238E27FC236}">
                <a16:creationId xmlns:a16="http://schemas.microsoft.com/office/drawing/2014/main" id="{D6972DAD-BA9E-453E-BE3A-BF0A6F08A415}"/>
              </a:ext>
            </a:extLst>
          </p:cNvPr>
          <p:cNvSpPr>
            <a:spLocks xmlns:a="http://schemas.openxmlformats.org/drawingml/2006/main" noGrp="1"/>
          </p:cNvSpPr>
          <p:nvPr/>
        </p:nvSpPr>
        <p:spPr>
          <a:xfrm xmlns:a="http://schemas.openxmlformats.org/drawingml/2006/main">
            <a:off x="647700" y="4933950"/>
            <a:ext cx="54673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22328"/>
                </a:solidFill>
                <a:latin typeface="Helvetica Neue"/>
                <a:ea typeface="Helvetica Neue"/>
                <a:cs typeface="Helvetica Neue"/>
              </a:defRPr>
            </a:pPr>
            <a:r>
              <a:rPr sz="1950" b="0">
                <a:solidFill>
                  <a:srgbClr val="122328"/>
                </a:solidFill>
                <a:latin typeface="Helvetica Neue"/>
                <a:ea typeface="Helvetica Neue"/>
                <a:cs typeface="Helvetica Neue"/>
              </a:rPr>
              <a:t>Compare supplied facts. Cite the evidence and recommend the best offer.</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2437f53df34440c"/>
          <a:srcRect xmlns:a="http://schemas.openxmlformats.org/drawingml/2006/main" l="50600" t="76000" r="3500" b="5460"/>
          <a:stretch xmlns:a="http://schemas.openxmlformats.org/drawingml/2006/main"/>
        </p:blipFill>
        <p:spPr>
          <a:xfrm xmlns:a="http://schemas.openxmlformats.org/drawingml/2006/main">
            <a:off x="6696075" y="1628775"/>
            <a:ext cx="4838700" cy="39433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588458F-D862-47BD-9EA4-C800C63CC320}"/>
              </a:ext>
            </a:extLst>
          </p:cNvPr>
          <p:cNvSpPr>
            <a:spLocks xmlns:a="http://schemas.openxmlformats.org/drawingml/2006/main" noGrp="1"/>
          </p:cNvSpPr>
          <p:nvPr/>
        </p:nvSpPr>
        <p:spPr>
          <a:xfrm xmlns:a="http://schemas.openxmlformats.org/drawingml/2006/main">
            <a:off x="6696075"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77F6E"/>
                </a:solidFill>
                <a:latin typeface="Helvetica Neue"/>
                <a:ea typeface="Helvetica Neue"/>
                <a:cs typeface="Helvetica Neue"/>
              </a:defRPr>
            </a:pPr>
            <a:r>
              <a:rPr sz="1950" b="1">
                <a:solidFill>
                  <a:srgbClr val="177F6E"/>
                </a:solidFill>
                <a:latin typeface="Helvetica Neue"/>
                <a:ea typeface="Helvetica Neue"/>
                <a:cs typeface="Helvetica Neue"/>
              </a:rPr>
              <a:t>Vendor B remains the factual winner</a:t>
            </a:r>
          </a:p>
        </p:txBody>
      </p:sp>
    </p:spTree>
    <p:extLst>
      <p:ext uri="{BB962C8B-B14F-4D97-AF65-F5344CB8AC3E}">
        <p14:creationId xmlns:p14="http://schemas.microsoft.com/office/powerpoint/2010/main" val="1064498697"/>
      </p:ext>
    </p:extLst>
  </p:cSld>
</p:sld>
</file>

<file path=ppt/slides/slide9.xml><?xml version="1.0" encoding="utf-8"?>
<p:sld xmlns:p="http://schemas.openxmlformats.org/presentationml/2006/main">
  <p:cSld>
    <p:bg>
      <p:bgPr>
        <a:solidFill xmlns:a="http://schemas.openxmlformats.org/drawingml/2006/main">
          <a:srgbClr val="F5F8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0640D7A-07BD-41BD-A18F-D9D4255C8E0A}"/>
              </a:ext>
            </a:extLst>
          </p:cNvPr>
          <p:cNvSpPr>
            <a:spLocks xmlns:a="http://schemas.openxmlformats.org/drawingml/2006/main" noGrp="1"/>
          </p:cNvSpPr>
          <p:nvPr/>
        </p:nvSpPr>
        <p:spPr>
          <a:xfrm xmlns:a="http://schemas.openxmlformats.org/drawingml/2006/main">
            <a:off x="609600" y="438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22328"/>
                </a:solidFill>
                <a:latin typeface="Helvetica Neue"/>
                <a:ea typeface="Helvetica Neue"/>
                <a:cs typeface="Helvetica Neue"/>
              </a:defRPr>
            </a:pPr>
            <a:r>
              <a:rPr sz="3225" b="1">
                <a:solidFill>
                  <a:srgbClr val="122328"/>
                </a:solidFill>
                <a:latin typeface="Helvetica Neue"/>
                <a:ea typeface="Helvetica Neue"/>
                <a:cs typeface="Helvetica Neue"/>
              </a:rPr>
              <a:t>The product links agents, evidence and denials</a:t>
            </a:r>
          </a:p>
        </p:txBody>
      </p:sp>
      <p:sp>
        <p:nvSpPr>
          <p:cNvPr id="2" name="">
            <a:extLst xmlns:a="http://schemas.openxmlformats.org/drawingml/2006/main">
              <a:ext uri="{FF2B5EF4-FFF2-40B4-BE49-F238E27FC236}">
                <a16:creationId xmlns:a16="http://schemas.microsoft.com/office/drawing/2014/main" id="{A785BA28-25BD-4FCA-AF1A-7234DFDF3F27}"/>
              </a:ext>
            </a:extLst>
          </p:cNvPr>
          <p:cNvSpPr>
            <a:spLocks xmlns:a="http://schemas.openxmlformats.org/drawingml/2006/main" noGrp="1"/>
          </p:cNvSpPr>
          <p:nvPr/>
        </p:nvSpPr>
        <p:spPr>
          <a:xfrm xmlns:a="http://schemas.openxmlformats.org/drawingml/2006/main">
            <a:off x="609600" y="6381750"/>
            <a:ext cx="10629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65D65"/>
                </a:solidFill>
                <a:latin typeface="Helvetica Neue"/>
                <a:ea typeface="Helvetica Neue"/>
                <a:cs typeface="Helvetica Neue"/>
              </a:defRPr>
            </a:pPr>
            <a:r>
              <a:rPr sz="1200" b="0">
                <a:solidFill>
                  <a:srgbClr val="465D65"/>
                </a:solidFill>
                <a:latin typeface="Helvetica Neue"/>
                <a:ea typeface="Helvetica Neue"/>
                <a:cs typeface="Helvetica Neue"/>
              </a:rPr>
              <a:t>Actual historical product captures, 10–11 October 2026. Capture versions appear in source notes.</a:t>
            </a:r>
          </a:p>
        </p:txBody>
      </p:sp>
      <p:sp>
        <p:nvSpPr>
          <p:cNvPr id="3" name="">
            <a:extLst xmlns:a="http://schemas.openxmlformats.org/drawingml/2006/main">
              <a:ext uri="{FF2B5EF4-FFF2-40B4-BE49-F238E27FC236}">
                <a16:creationId xmlns:a16="http://schemas.microsoft.com/office/drawing/2014/main" id="{AFCBDEAB-D3ED-4992-AC67-AA58338B013F}"/>
              </a:ext>
            </a:extLst>
          </p:cNvPr>
          <p:cNvSpPr>
            <a:spLocks xmlns:a="http://schemas.openxmlformats.org/drawingml/2006/main" noGrp="1"/>
          </p:cNvSpPr>
          <p:nvPr/>
        </p:nvSpPr>
        <p:spPr>
          <a:xfrm xmlns:a="http://schemas.openxmlformats.org/drawingml/2006/main">
            <a:off x="11334750" y="64198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65D65"/>
                </a:solidFill>
                <a:latin typeface="Helvetica Neue"/>
                <a:ea typeface="Helvetica Neue"/>
                <a:cs typeface="Helvetica Neue"/>
              </a:defRPr>
            </a:pPr>
            <a:r>
              <a:rPr sz="1200" b="0">
                <a:solidFill>
                  <a:srgbClr val="465D65"/>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1FED0107-503D-440D-9AD2-90EC4CAAC69E}"/>
              </a:ext>
            </a:extLst>
          </p:cNvPr>
          <p:cNvSpPr>
            <a:spLocks xmlns:a="http://schemas.openxmlformats.org/drawingml/2006/main" noGrp="1"/>
          </p:cNvSpPr>
          <p:nvPr/>
        </p:nvSpPr>
        <p:spPr>
          <a:xfrm xmlns:a="http://schemas.openxmlformats.org/drawingml/2006/main">
            <a:off x="609600" y="16097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22328"/>
                </a:solidFill>
                <a:latin typeface="Helvetica Neue"/>
                <a:ea typeface="Helvetica Neue"/>
                <a:cs typeface="Helvetica Neue"/>
              </a:defRPr>
            </a:pPr>
            <a:r>
              <a:rPr sz="1725" b="1">
                <a:solidFill>
                  <a:srgbClr val="122328"/>
                </a:solidFill>
                <a:latin typeface="Helvetica Neue"/>
                <a:ea typeface="Helvetica Neue"/>
                <a:cs typeface="Helvetica Neue"/>
              </a:rPr>
              <a:t>Protected agents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b8aacb2cbf14f6a"/>
          <a:srcRect xmlns:a="http://schemas.openxmlformats.org/drawingml/2006/main" l="22000" t="11000" r="2000" b="63305"/>
          <a:stretch xmlns:a="http://schemas.openxmlformats.org/drawingml/2006/main"/>
        </p:blipFill>
        <p:spPr>
          <a:xfrm xmlns:a="http://schemas.openxmlformats.org/drawingml/2006/main">
            <a:off x="609600" y="2019300"/>
            <a:ext cx="5238750" cy="17716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91C4172-2BD8-45EF-BD36-39CD2BE29F7A}"/>
              </a:ext>
            </a:extLst>
          </p:cNvPr>
          <p:cNvSpPr>
            <a:spLocks xmlns:a="http://schemas.openxmlformats.org/drawingml/2006/main" noGrp="1"/>
          </p:cNvSpPr>
          <p:nvPr/>
        </p:nvSpPr>
        <p:spPr>
          <a:xfrm xmlns:a="http://schemas.openxmlformats.org/drawingml/2006/main">
            <a:off x="6276975" y="16097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22328"/>
                </a:solidFill>
                <a:latin typeface="Helvetica Neue"/>
                <a:ea typeface="Helvetica Neue"/>
                <a:cs typeface="Helvetica Neue"/>
              </a:defRPr>
            </a:pPr>
            <a:r>
              <a:rPr sz="1725" b="1">
                <a:solidFill>
                  <a:srgbClr val="122328"/>
                </a:solidFill>
                <a:latin typeface="Helvetica Neue"/>
                <a:ea typeface="Helvetica Neue"/>
                <a:cs typeface="Helvetica Neue"/>
              </a:rPr>
              <a:t>Runtime activity</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9e7078890ff48f9"/>
          <a:srcRect xmlns:a="http://schemas.openxmlformats.org/drawingml/2006/main" l="50000" t="65000" r="3500" b="30271"/>
          <a:stretch xmlns:a="http://schemas.openxmlformats.org/drawingml/2006/main"/>
        </p:blipFill>
        <p:spPr>
          <a:xfrm xmlns:a="http://schemas.openxmlformats.org/drawingml/2006/main">
            <a:off x="6276975" y="2019300"/>
            <a:ext cx="5238750" cy="17716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042DA3DB-908D-437B-8FEB-047A002FA201}"/>
              </a:ext>
            </a:extLst>
          </p:cNvPr>
          <p:cNvSpPr>
            <a:spLocks xmlns:a="http://schemas.openxmlformats.org/drawingml/2006/main" noGrp="1"/>
          </p:cNvSpPr>
          <p:nvPr/>
        </p:nvSpPr>
        <p:spPr>
          <a:xfrm xmlns:a="http://schemas.openxmlformats.org/drawingml/2006/main">
            <a:off x="609600" y="402907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22328"/>
                </a:solidFill>
                <a:latin typeface="Helvetica Neue"/>
                <a:ea typeface="Helvetica Neue"/>
                <a:cs typeface="Helvetica Neue"/>
              </a:defRPr>
            </a:pPr>
            <a:r>
              <a:rPr sz="1725" b="1">
                <a:solidFill>
                  <a:srgbClr val="122328"/>
                </a:solidFill>
                <a:latin typeface="Helvetica Neue"/>
                <a:ea typeface="Helvetica Neue"/>
                <a:cs typeface="Helvetica Neue"/>
              </a:rPr>
              <a:t>Security incident</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6d6ea3a646e149c6"/>
          <a:srcRect xmlns:a="http://schemas.openxmlformats.org/drawingml/2006/main" l="46000" t="24600" r="2500" b="55469"/>
          <a:stretch xmlns:a="http://schemas.openxmlformats.org/drawingml/2006/main"/>
        </p:blipFill>
        <p:spPr>
          <a:xfrm xmlns:a="http://schemas.openxmlformats.org/drawingml/2006/main">
            <a:off x="609600" y="4438650"/>
            <a:ext cx="5238750" cy="17716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D8DAD45-7714-4074-99C4-377B094F9F01}"/>
              </a:ext>
            </a:extLst>
          </p:cNvPr>
          <p:cNvSpPr>
            <a:spLocks xmlns:a="http://schemas.openxmlformats.org/drawingml/2006/main" noGrp="1"/>
          </p:cNvSpPr>
          <p:nvPr/>
        </p:nvSpPr>
        <p:spPr>
          <a:xfrm xmlns:a="http://schemas.openxmlformats.org/drawingml/2006/main">
            <a:off x="6276975" y="402907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22328"/>
                </a:solidFill>
                <a:latin typeface="Helvetica Neue"/>
                <a:ea typeface="Helvetica Neue"/>
                <a:cs typeface="Helvetica Neue"/>
              </a:defRPr>
            </a:pPr>
            <a:r>
              <a:rPr sz="1725" b="1">
                <a:solidFill>
                  <a:srgbClr val="122328"/>
                </a:solidFill>
                <a:latin typeface="Helvetica Neue"/>
                <a:ea typeface="Helvetica Neue"/>
                <a:cs typeface="Helvetica Neue"/>
              </a:rPr>
              <a:t>Attack Lab</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d0f19a1a37364593"/>
          <a:srcRect xmlns:a="http://schemas.openxmlformats.org/drawingml/2006/main" l="22000" t="33800" r="2000" b="46764"/>
          <a:stretch xmlns:a="http://schemas.openxmlformats.org/drawingml/2006/main"/>
        </p:blipFill>
        <p:spPr>
          <a:xfrm xmlns:a="http://schemas.openxmlformats.org/drawingml/2006/main">
            <a:off x="6276975" y="4438650"/>
            <a:ext cx="5238750" cy="1771650"/>
          </a:xfrm>
          <a:prstGeom xmlns:a="http://schemas.openxmlformats.org/drawingml/2006/main" prst="rect">
            <a:avLst/>
          </a:prstGeom>
        </p:spPr>
      </p:pic>
    </p:spTree>
    <p:extLst>
      <p:ext uri="{BB962C8B-B14F-4D97-AF65-F5344CB8AC3E}">
        <p14:creationId xmlns:p14="http://schemas.microsoft.com/office/powerpoint/2010/main" val="531338449"/>
      </p:ext>
    </p:extLst>
  </p:cSld>
</p:sld>
</file>

<file path=ppt/slides/slide10.xml><?xml version="1.0" encoding="utf-8"?>
<p:sld xmlns:p="http://schemas.openxmlformats.org/presentationml/2006/main">
  <p:cSld>
    <p:bg>
      <p:bgPr>
        <a:solidFill xmlns:a="http://schemas.openxmlformats.org/drawingml/2006/main">
          <a:srgbClr val="F5F8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5CE9FAE-140D-4EB0-A3B4-D228F3A83CA2}"/>
              </a:ext>
            </a:extLst>
          </p:cNvPr>
          <p:cNvSpPr>
            <a:spLocks xmlns:a="http://schemas.openxmlformats.org/drawingml/2006/main" noGrp="1"/>
          </p:cNvSpPr>
          <p:nvPr/>
        </p:nvSpPr>
        <p:spPr>
          <a:xfrm xmlns:a="http://schemas.openxmlformats.org/drawingml/2006/main">
            <a:off x="609600" y="438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22328"/>
                </a:solidFill>
                <a:latin typeface="Helvetica Neue"/>
                <a:ea typeface="Helvetica Neue"/>
                <a:cs typeface="Helvetica Neue"/>
              </a:defRPr>
            </a:pPr>
            <a:r>
              <a:rPr sz="3225" b="1">
                <a:solidFill>
                  <a:srgbClr val="122328"/>
                </a:solidFill>
                <a:latin typeface="Helvetica Neue"/>
                <a:ea typeface="Helvetica Neue"/>
                <a:cs typeface="Helvetica Neue"/>
              </a:rPr>
              <a:t>First-use evaluation exposes a detection gap</a:t>
            </a:r>
          </a:p>
        </p:txBody>
      </p:sp>
      <p:sp>
        <p:nvSpPr>
          <p:cNvPr id="2" name="">
            <a:extLst xmlns:a="http://schemas.openxmlformats.org/drawingml/2006/main">
              <a:ext uri="{FF2B5EF4-FFF2-40B4-BE49-F238E27FC236}">
                <a16:creationId xmlns:a16="http://schemas.microsoft.com/office/drawing/2014/main" id="{F1A412EF-DA9A-4EC6-88EB-B7B75D55521B}"/>
              </a:ext>
            </a:extLst>
          </p:cNvPr>
          <p:cNvSpPr>
            <a:spLocks xmlns:a="http://schemas.openxmlformats.org/drawingml/2006/main" noGrp="1"/>
          </p:cNvSpPr>
          <p:nvPr/>
        </p:nvSpPr>
        <p:spPr>
          <a:xfrm xmlns:a="http://schemas.openxmlformats.org/drawingml/2006/main">
            <a:off x="609600" y="6381750"/>
            <a:ext cx="10629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65D65"/>
                </a:solidFill>
                <a:latin typeface="Helvetica Neue"/>
                <a:ea typeface="Helvetica Neue"/>
                <a:cs typeface="Helvetica Neue"/>
              </a:defRPr>
            </a:pPr>
            <a:r>
              <a:rPr sz="1200" b="0">
                <a:solidFill>
                  <a:srgbClr val="465D65"/>
                </a:solidFill>
                <a:latin typeface="Helvetica Neue"/>
                <a:ea typeface="Helvetica Neue"/>
                <a:cs typeface="Helvetica Neue"/>
              </a:rPr>
              <a:t>Sources: frozen first-use inspection report v1, authored hosted comparison, and familiar 168-case format matrix.</a:t>
            </a:r>
          </a:p>
        </p:txBody>
      </p:sp>
      <p:sp>
        <p:nvSpPr>
          <p:cNvPr id="3" name="">
            <a:extLst xmlns:a="http://schemas.openxmlformats.org/drawingml/2006/main">
              <a:ext uri="{FF2B5EF4-FFF2-40B4-BE49-F238E27FC236}">
                <a16:creationId xmlns:a16="http://schemas.microsoft.com/office/drawing/2014/main" id="{EED2FFAE-8FE9-4875-A8EE-E206DE2A8327}"/>
              </a:ext>
            </a:extLst>
          </p:cNvPr>
          <p:cNvSpPr>
            <a:spLocks xmlns:a="http://schemas.openxmlformats.org/drawingml/2006/main" noGrp="1"/>
          </p:cNvSpPr>
          <p:nvPr/>
        </p:nvSpPr>
        <p:spPr>
          <a:xfrm xmlns:a="http://schemas.openxmlformats.org/drawingml/2006/main">
            <a:off x="11334750" y="64198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65D65"/>
                </a:solidFill>
                <a:latin typeface="Helvetica Neue"/>
                <a:ea typeface="Helvetica Neue"/>
                <a:cs typeface="Helvetica Neue"/>
              </a:defRPr>
            </a:pPr>
            <a:r>
              <a:rPr sz="1200" b="0">
                <a:solidFill>
                  <a:srgbClr val="465D65"/>
                </a:solidFill>
                <a:latin typeface="Helvetica Neue"/>
                <a:ea typeface="Helvetica Neue"/>
                <a:cs typeface="Helvetica Neue"/>
              </a:rPr>
              <a:t>10</a:t>
            </a:r>
          </a:p>
        </p:txBody>
      </p:sp>
      <p:graphicFrame>
        <p:nvGraphicFramePr>
          <p:cNvPr id="13" name=""/>
          <p:cNvGraphicFramePr/>
          <p:nvPr/>
        </p:nvGraphicFramePr>
        <p:xfrm>
          <a:off xmlns:a="http://schemas.openxmlformats.org/drawingml/2006/main" x="609600" y="1676400"/>
          <a:ext xmlns:a="http://schemas.openxmlformats.org/drawingml/2006/main" cx="7143750" cy="2981325"/>
        </p:xfrm>
        <a:graphic xmlns:a="http://schemas.openxmlformats.org/drawingml/2006/main">
          <a:graphicData uri="http://schemas.openxmlformats.org/drawingml/2006/table">
            <a:tbl>
              <a:tblPr firstRow="1"/>
              <a:tblGrid>
                <a:gridCol w="3276600"/>
                <a:gridCol w="1933575"/>
                <a:gridCol w="1933575"/>
              </a:tblGrid>
              <a:tr h="596265">
                <a:tc>
                  <a:txBody>
                    <a:bodyPr/>
                    <a:lstStyle/>
                    <a:p>
                      <a:r>
                        <a:rPr sz="1725" b="1">
                          <a:solidFill>
                            <a:srgbClr val="FFFFFF"/>
                          </a:solidFill>
                          <a:latin typeface="Helvetica Neue"/>
                          <a:ea typeface="Helvetica Neue"/>
                          <a:cs typeface="Helvetica Neue"/>
                        </a:rPr>
                        <a:t>First-use measure</a:t>
                      </a:r>
                    </a:p>
                  </a:txBody>
                  <a:tcPr marL="114300" marR="95250" marT="85725" marB="66675">
                    <a:solidFill>
                      <a:srgbClr val="10242A"/>
                    </a:solidFill>
                  </a:tcPr>
                </a:tc>
                <a:tc>
                  <a:txBody>
                    <a:bodyPr/>
                    <a:lstStyle/>
                    <a:p>
                      <a:r>
                        <a:rPr sz="1725" b="1">
                          <a:solidFill>
                            <a:srgbClr val="FFFFFF"/>
                          </a:solidFill>
                          <a:latin typeface="Helvetica Neue"/>
                          <a:ea typeface="Helvetica Neue"/>
                          <a:cs typeface="Helvetica Neue"/>
                        </a:rPr>
                        <a:t>B: deterministic</a:t>
                      </a:r>
                    </a:p>
                  </a:txBody>
                  <a:tcPr marL="114300" marR="95250" marT="85725" marB="66675">
                    <a:solidFill>
                      <a:srgbClr val="10242A"/>
                    </a:solidFill>
                  </a:tcPr>
                </a:tc>
                <a:tc>
                  <a:txBody>
                    <a:bodyPr/>
                    <a:lstStyle/>
                    <a:p>
                      <a:r>
                        <a:rPr sz="1725" b="1">
                          <a:solidFill>
                            <a:srgbClr val="FFFFFF"/>
                          </a:solidFill>
                          <a:latin typeface="Helvetica Neue"/>
                          <a:ea typeface="Helvetica Neue"/>
                          <a:cs typeface="Helvetica Neue"/>
                        </a:rPr>
                        <a:t>C: routed AI</a:t>
                      </a:r>
                    </a:p>
                  </a:txBody>
                  <a:tcPr marL="114300" marR="95250" marT="85725" marB="66675">
                    <a:solidFill>
                      <a:srgbClr val="10242A"/>
                    </a:solidFill>
                  </a:tcPr>
                </a:tc>
              </a:tr>
              <a:tr h="596265">
                <a:tc>
                  <a:txBody>
                    <a:bodyPr/>
                    <a:lstStyle/>
                    <a:p>
                      <a:r>
                        <a:rPr sz="1725">
                          <a:solidFill>
                            <a:srgbClr val="122328"/>
                          </a:solidFill>
                          <a:latin typeface="Helvetica Neue"/>
                          <a:ea typeface="Helvetica Neue"/>
                          <a:cs typeface="Helvetica Neue"/>
                        </a:rPr>
                        <a:t>Detected attacks</a:t>
                      </a:r>
                    </a:p>
                  </a:txBody>
                  <a:tcPr marL="114300" marR="95250" marT="85725" marB="66675">
                    <a:solidFill>
                      <a:srgbClr val="FFFFFF"/>
                    </a:solidFill>
                  </a:tcPr>
                </a:tc>
                <a:tc>
                  <a:txBody>
                    <a:bodyPr/>
                    <a:lstStyle/>
                    <a:p>
                      <a:r>
                        <a:rPr sz="1725">
                          <a:solidFill>
                            <a:srgbClr val="122328"/>
                          </a:solidFill>
                          <a:latin typeface="Helvetica Neue"/>
                          <a:ea typeface="Helvetica Neue"/>
                          <a:cs typeface="Helvetica Neue"/>
                        </a:rPr>
                        <a:t>4 / 48 (8.3%)</a:t>
                      </a:r>
                    </a:p>
                  </a:txBody>
                  <a:tcPr marL="114300" marR="95250" marT="85725" marB="66675">
                    <a:solidFill>
                      <a:srgbClr val="FFFFFF"/>
                    </a:solidFill>
                  </a:tcPr>
                </a:tc>
                <a:tc>
                  <a:txBody>
                    <a:bodyPr/>
                    <a:lstStyle/>
                    <a:p>
                      <a:r>
                        <a:rPr sz="1725">
                          <a:solidFill>
                            <a:srgbClr val="122328"/>
                          </a:solidFill>
                          <a:latin typeface="Helvetica Neue"/>
                          <a:ea typeface="Helvetica Neue"/>
                          <a:cs typeface="Helvetica Neue"/>
                        </a:rPr>
                        <a:t>4 / 48 (8.3%)</a:t>
                      </a:r>
                    </a:p>
                  </a:txBody>
                  <a:tcPr marL="114300" marR="95250" marT="85725" marB="66675">
                    <a:solidFill>
                      <a:srgbClr val="FFFFFF"/>
                    </a:solidFill>
                  </a:tcPr>
                </a:tc>
              </a:tr>
              <a:tr h="596265">
                <a:tc>
                  <a:txBody>
                    <a:bodyPr/>
                    <a:lstStyle/>
                    <a:p>
                      <a:r>
                        <a:rPr sz="1725">
                          <a:solidFill>
                            <a:srgbClr val="122328"/>
                          </a:solidFill>
                          <a:latin typeface="Helvetica Neue"/>
                          <a:ea typeface="Helvetica Neue"/>
                          <a:cs typeface="Helvetica Neue"/>
                        </a:rPr>
                        <a:t>Benign false positives</a:t>
                      </a:r>
                    </a:p>
                  </a:txBody>
                  <a:tcPr marL="114300" marR="95250" marT="85725" marB="66675">
                    <a:solidFill>
                      <a:srgbClr val="E4F2EC"/>
                    </a:solidFill>
                  </a:tcPr>
                </a:tc>
                <a:tc>
                  <a:txBody>
                    <a:bodyPr/>
                    <a:lstStyle/>
                    <a:p>
                      <a:r>
                        <a:rPr sz="1725">
                          <a:solidFill>
                            <a:srgbClr val="122328"/>
                          </a:solidFill>
                          <a:latin typeface="Helvetica Neue"/>
                          <a:ea typeface="Helvetica Neue"/>
                          <a:cs typeface="Helvetica Neue"/>
                        </a:rPr>
                        <a:t>6 / 16 (37.5%)</a:t>
                      </a:r>
                    </a:p>
                  </a:txBody>
                  <a:tcPr marL="114300" marR="95250" marT="85725" marB="66675">
                    <a:solidFill>
                      <a:srgbClr val="E4F2EC"/>
                    </a:solidFill>
                  </a:tcPr>
                </a:tc>
                <a:tc>
                  <a:txBody>
                    <a:bodyPr/>
                    <a:lstStyle/>
                    <a:p>
                      <a:r>
                        <a:rPr sz="1725">
                          <a:solidFill>
                            <a:srgbClr val="122328"/>
                          </a:solidFill>
                          <a:latin typeface="Helvetica Neue"/>
                          <a:ea typeface="Helvetica Neue"/>
                          <a:cs typeface="Helvetica Neue"/>
                        </a:rPr>
                        <a:t>6 / 16 (37.5%)</a:t>
                      </a:r>
                    </a:p>
                  </a:txBody>
                  <a:tcPr marL="114300" marR="95250" marT="85725" marB="66675">
                    <a:solidFill>
                      <a:srgbClr val="E4F2EC"/>
                    </a:solidFill>
                  </a:tcPr>
                </a:tc>
              </a:tr>
              <a:tr h="596265">
                <a:tc>
                  <a:txBody>
                    <a:bodyPr/>
                    <a:lstStyle/>
                    <a:p>
                      <a:r>
                        <a:rPr sz="1725">
                          <a:solidFill>
                            <a:srgbClr val="122328"/>
                          </a:solidFill>
                          <a:latin typeface="Helvetica Neue"/>
                          <a:ea typeface="Helvetica Neue"/>
                          <a:cs typeface="Helvetica Neue"/>
                        </a:rPr>
                        <a:t>Inspection latency p95</a:t>
                      </a:r>
                    </a:p>
                  </a:txBody>
                  <a:tcPr marL="114300" marR="95250" marT="85725" marB="66675">
                    <a:solidFill>
                      <a:srgbClr val="FFFFFF"/>
                    </a:solidFill>
                  </a:tcPr>
                </a:tc>
                <a:tc>
                  <a:txBody>
                    <a:bodyPr/>
                    <a:lstStyle/>
                    <a:p>
                      <a:r>
                        <a:rPr sz="1725">
                          <a:solidFill>
                            <a:srgbClr val="122328"/>
                          </a:solidFill>
                          <a:latin typeface="Helvetica Neue"/>
                          <a:ea typeface="Helvetica Neue"/>
                          <a:cs typeface="Helvetica Neue"/>
                        </a:rPr>
                        <a:t>1.4 ms</a:t>
                      </a:r>
                    </a:p>
                  </a:txBody>
                  <a:tcPr marL="114300" marR="95250" marT="85725" marB="66675">
                    <a:solidFill>
                      <a:srgbClr val="FFFFFF"/>
                    </a:solidFill>
                  </a:tcPr>
                </a:tc>
                <a:tc>
                  <a:txBody>
                    <a:bodyPr/>
                    <a:lstStyle/>
                    <a:p>
                      <a:r>
                        <a:rPr sz="1725">
                          <a:solidFill>
                            <a:srgbClr val="122328"/>
                          </a:solidFill>
                          <a:latin typeface="Helvetica Neue"/>
                          <a:ea typeface="Helvetica Neue"/>
                          <a:cs typeface="Helvetica Neue"/>
                        </a:rPr>
                        <a:t>195.3 ms</a:t>
                      </a:r>
                    </a:p>
                  </a:txBody>
                  <a:tcPr marL="114300" marR="95250" marT="85725" marB="66675">
                    <a:solidFill>
                      <a:srgbClr val="FFFFFF"/>
                    </a:solidFill>
                  </a:tcPr>
                </a:tc>
              </a:tr>
              <a:tr h="596265">
                <a:tc>
                  <a:txBody>
                    <a:bodyPr/>
                    <a:lstStyle/>
                    <a:p>
                      <a:r>
                        <a:rPr sz="1725">
                          <a:solidFill>
                            <a:srgbClr val="122328"/>
                          </a:solidFill>
                          <a:latin typeface="Helvetica Neue"/>
                          <a:ea typeface="Helvetica Neue"/>
                          <a:cs typeface="Helvetica Neue"/>
                        </a:rPr>
                        <a:t>Classifier calls</a:t>
                      </a:r>
                    </a:p>
                  </a:txBody>
                  <a:tcPr marL="114300" marR="95250" marT="85725" marB="66675">
                    <a:solidFill>
                      <a:srgbClr val="E4F2EC"/>
                    </a:solidFill>
                  </a:tcPr>
                </a:tc>
                <a:tc>
                  <a:txBody>
                    <a:bodyPr/>
                    <a:lstStyle/>
                    <a:p>
                      <a:r>
                        <a:rPr sz="1725">
                          <a:solidFill>
                            <a:srgbClr val="122328"/>
                          </a:solidFill>
                          <a:latin typeface="Helvetica Neue"/>
                          <a:ea typeface="Helvetica Neue"/>
                          <a:cs typeface="Helvetica Neue"/>
                        </a:rPr>
                        <a:t>0</a:t>
                      </a:r>
                    </a:p>
                  </a:txBody>
                  <a:tcPr marL="114300" marR="95250" marT="85725" marB="66675">
                    <a:solidFill>
                      <a:srgbClr val="E4F2EC"/>
                    </a:solidFill>
                  </a:tcPr>
                </a:tc>
                <a:tc>
                  <a:txBody>
                    <a:bodyPr/>
                    <a:lstStyle/>
                    <a:p>
                      <a:r>
                        <a:rPr sz="1725">
                          <a:solidFill>
                            <a:srgbClr val="122328"/>
                          </a:solidFill>
                          <a:latin typeface="Helvetica Neue"/>
                          <a:ea typeface="Helvetica Neue"/>
                          <a:cs typeface="Helvetica Neue"/>
                        </a:rPr>
                        <a:t>11</a:t>
                      </a:r>
                    </a:p>
                  </a:txBody>
                  <a:tcPr marL="114300" marR="95250" marT="85725" marB="66675">
                    <a:solidFill>
                      <a:srgbClr val="E4F2EC"/>
                    </a:solidFill>
                  </a:tcPr>
                </a:tc>
              </a:tr>
            </a:tbl>
          </a:graphicData>
        </a:graphic>
      </p:graphicFrame>
      <p:sp>
        <p:nvSpPr>
          <p:cNvPr id="5" name="">
            <a:extLst xmlns:a="http://schemas.openxmlformats.org/drawingml/2006/main">
              <a:ext uri="{FF2B5EF4-FFF2-40B4-BE49-F238E27FC236}">
                <a16:creationId xmlns:a16="http://schemas.microsoft.com/office/drawing/2014/main" id="{99DCF3F8-2A11-427C-87D4-3075B4FEE58E}"/>
              </a:ext>
            </a:extLst>
          </p:cNvPr>
          <p:cNvSpPr>
            <a:spLocks xmlns:a="http://schemas.openxmlformats.org/drawingml/2006/main" noGrp="1"/>
          </p:cNvSpPr>
          <p:nvPr/>
        </p:nvSpPr>
        <p:spPr>
          <a:xfrm xmlns:a="http://schemas.openxmlformats.org/drawingml/2006/main">
            <a:off x="8153400" y="1752600"/>
            <a:ext cx="333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2328"/>
                </a:solidFill>
                <a:latin typeface="Helvetica Neue"/>
                <a:ea typeface="Helvetica Neue"/>
                <a:cs typeface="Helvetica Neue"/>
              </a:defRPr>
            </a:pPr>
            <a:r>
              <a:rPr sz="2025" b="1">
                <a:solidFill>
                  <a:srgbClr val="122328"/>
                </a:solidFill>
                <a:latin typeface="Helvetica Neue"/>
                <a:ea typeface="Helvetica Neue"/>
                <a:cs typeface="Helvetica Neue"/>
              </a:rPr>
              <a:t>Authored hosted comparison</a:t>
            </a:r>
          </a:p>
        </p:txBody>
      </p:sp>
      <p:sp>
        <p:nvSpPr>
          <p:cNvPr id="6" name="">
            <a:extLst xmlns:a="http://schemas.openxmlformats.org/drawingml/2006/main">
              <a:ext uri="{FF2B5EF4-FFF2-40B4-BE49-F238E27FC236}">
                <a16:creationId xmlns:a16="http://schemas.microsoft.com/office/drawing/2014/main" id="{8E74DBB9-5B7E-44C5-BB74-C03C0C99A612}"/>
              </a:ext>
            </a:extLst>
          </p:cNvPr>
          <p:cNvSpPr>
            <a:spLocks xmlns:a="http://schemas.openxmlformats.org/drawingml/2006/main" noGrp="1"/>
          </p:cNvSpPr>
          <p:nvPr/>
        </p:nvSpPr>
        <p:spPr>
          <a:xfrm xmlns:a="http://schemas.openxmlformats.org/drawingml/2006/main">
            <a:off x="8153400" y="2638425"/>
            <a:ext cx="33337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22328"/>
                </a:solidFill>
                <a:latin typeface="Helvetica Neue"/>
                <a:ea typeface="Helvetica Neue"/>
                <a:cs typeface="Helvetica Neue"/>
              </a:defRPr>
            </a:pPr>
            <a:r>
              <a:rPr sz="1725" b="0">
                <a:solidFill>
                  <a:srgbClr val="122328"/>
                </a:solidFill>
                <a:latin typeface="Helvetica Neue"/>
                <a:ea typeface="Helvetica Neue"/>
                <a:cs typeface="Helvetica Neue"/>
              </a:rPr>
              <a:t>9 attacks: B 7/9, C 8/9</a:t>
            </a:r>
          </a:p>
          <a:p xmlns:a="http://schemas.openxmlformats.org/drawingml/2006/main">
            <a:pPr>
              <a:defRPr sz="1725" b="0">
                <a:solidFill>
                  <a:srgbClr val="122328"/>
                </a:solidFill>
                <a:latin typeface="Helvetica Neue"/>
                <a:ea typeface="Helvetica Neue"/>
                <a:cs typeface="Helvetica Neue"/>
              </a:defRPr>
            </a:pPr>
            <a:r>
              <a:rPr sz="1725" b="0">
                <a:solidFill>
                  <a:srgbClr val="122328"/>
                </a:solidFill>
                <a:latin typeface="Helvetica Neue"/>
                <a:ea typeface="Helvetica Neue"/>
                <a:cs typeface="Helvetica Neue"/>
              </a:rPr>
              <a:t>Task success: both 10/10</a:t>
            </a:r>
          </a:p>
          <a:p xmlns:a="http://schemas.openxmlformats.org/drawingml/2006/main">
            <a:pPr>
              <a:defRPr sz="1725" b="0">
                <a:solidFill>
                  <a:srgbClr val="122328"/>
                </a:solidFill>
                <a:latin typeface="Helvetica Neue"/>
                <a:ea typeface="Helvetica Neue"/>
                <a:cs typeface="Helvetica Neue"/>
              </a:defRPr>
            </a:pPr>
            <a:r>
              <a:rPr sz="1725" b="0">
                <a:solidFill>
                  <a:srgbClr val="122328"/>
                </a:solidFill>
                <a:latin typeface="Helvetica Neue"/>
                <a:ea typeface="Helvetica Neue"/>
                <a:cs typeface="Helvetica Neue"/>
              </a:rPr>
              <a:t>20/20 forced email denials</a:t>
            </a:r>
          </a:p>
        </p:txBody>
      </p:sp>
      <p:sp>
        <p:nvSpPr>
          <p:cNvPr id="7" name="">
            <a:extLst xmlns:a="http://schemas.openxmlformats.org/drawingml/2006/main">
              <a:ext uri="{FF2B5EF4-FFF2-40B4-BE49-F238E27FC236}">
                <a16:creationId xmlns:a16="http://schemas.microsoft.com/office/drawing/2014/main" id="{FC92C6B7-1966-4D5C-B83F-C2416B84E91A}"/>
              </a:ext>
            </a:extLst>
          </p:cNvPr>
          <p:cNvSpPr>
            <a:spLocks xmlns:a="http://schemas.openxmlformats.org/drawingml/2006/main" noGrp="1"/>
          </p:cNvSpPr>
          <p:nvPr/>
        </p:nvSpPr>
        <p:spPr>
          <a:xfrm xmlns:a="http://schemas.openxmlformats.org/drawingml/2006/main">
            <a:off x="8153400" y="4371975"/>
            <a:ext cx="33337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465D65"/>
                </a:solidFill>
                <a:latin typeface="Helvetica Neue"/>
                <a:ea typeface="Helvetica Neue"/>
                <a:cs typeface="Helvetica Neue"/>
              </a:defRPr>
            </a:pPr>
            <a:r>
              <a:rPr sz="1650" b="0">
                <a:solidFill>
                  <a:srgbClr val="465D65"/>
                </a:solidFill>
                <a:latin typeface="Helvetica Neue"/>
                <a:ea typeface="Helvetica Neue"/>
                <a:cs typeface="Helvetica Neue"/>
              </a:rPr>
              <a:t>Familiar format matrix</a:t>
            </a:r>
          </a:p>
          <a:p xmlns:a="http://schemas.openxmlformats.org/drawingml/2006/main">
            <a:pPr>
              <a:defRPr sz="1650" b="0">
                <a:solidFill>
                  <a:srgbClr val="465D65"/>
                </a:solidFill>
                <a:latin typeface="Helvetica Neue"/>
                <a:ea typeface="Helvetica Neue"/>
                <a:cs typeface="Helvetica Neue"/>
              </a:defRPr>
            </a:pPr>
            <a:r>
              <a:rPr sz="1650" b="0">
                <a:solidFill>
                  <a:srgbClr val="465D65"/>
                </a:solidFill>
                <a:latin typeface="Helvetica Neue"/>
                <a:ea typeface="Helvetica Neue"/>
                <a:cs typeface="Helvetica Neue"/>
              </a:rPr>
              <a:t>66/84 attacks detected</a:t>
            </a:r>
          </a:p>
          <a:p xmlns:a="http://schemas.openxmlformats.org/drawingml/2006/main">
            <a:pPr>
              <a:defRPr sz="1650" b="0">
                <a:solidFill>
                  <a:srgbClr val="465D65"/>
                </a:solidFill>
                <a:latin typeface="Helvetica Neue"/>
                <a:ea typeface="Helvetica Neue"/>
                <a:cs typeface="Helvetica Neue"/>
              </a:defRPr>
            </a:pPr>
            <a:r>
              <a:rPr sz="1650" b="0">
                <a:solidFill>
                  <a:srgbClr val="465D65"/>
                </a:solidFill>
                <a:latin typeface="Helvetica Neue"/>
                <a:ea typeface="Helvetica Neue"/>
                <a:cs typeface="Helvetica Neue"/>
              </a:rPr>
              <a:t>0/84 benign false positives</a:t>
            </a:r>
          </a:p>
        </p:txBody>
      </p:sp>
      <p:sp>
        <p:nvSpPr>
          <p:cNvPr id="8" name="">
            <a:extLst xmlns:a="http://schemas.openxmlformats.org/drawingml/2006/main">
              <a:ext uri="{FF2B5EF4-FFF2-40B4-BE49-F238E27FC236}">
                <a16:creationId xmlns:a16="http://schemas.microsoft.com/office/drawing/2014/main" id="{4ADCB6CF-39CD-47C2-8CD0-70A5A3A3704E}"/>
              </a:ext>
            </a:extLst>
          </p:cNvPr>
          <p:cNvSpPr>
            <a:spLocks xmlns:a="http://schemas.openxmlformats.org/drawingml/2006/main" noGrp="1"/>
          </p:cNvSpPr>
          <p:nvPr/>
        </p:nvSpPr>
        <p:spPr>
          <a:xfrm xmlns:a="http://schemas.openxmlformats.org/drawingml/2006/main">
            <a:off x="647700" y="5114925"/>
            <a:ext cx="71056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A83535"/>
                </a:solidFill>
                <a:latin typeface="Helvetica Neue"/>
                <a:ea typeface="Helvetica Neue"/>
                <a:cs typeface="Helvetica Neue"/>
              </a:defRPr>
            </a:pPr>
            <a:r>
              <a:rPr sz="1950" b="1">
                <a:solidFill>
                  <a:srgbClr val="A83535"/>
                </a:solidFill>
                <a:latin typeface="Helvetica Neue"/>
                <a:ea typeface="Helvetica Neue"/>
                <a:cs typeface="Helvetica Neue"/>
              </a:rPr>
              <a:t>0/32 public tool-output attacks detected. AI added no first-use detections.</a:t>
            </a:r>
          </a:p>
        </p:txBody>
      </p:sp>
      <p:sp>
        <p:nvSpPr>
          <p:cNvPr id="9" name="">
            <a:extLst xmlns:a="http://schemas.openxmlformats.org/drawingml/2006/main">
              <a:ext uri="{FF2B5EF4-FFF2-40B4-BE49-F238E27FC236}">
                <a16:creationId xmlns:a16="http://schemas.microsoft.com/office/drawing/2014/main" id="{AB6ACF37-8377-4E95-90C9-7B4028EF722A}"/>
              </a:ext>
            </a:extLst>
          </p:cNvPr>
          <p:cNvSpPr>
            <a:spLocks xmlns:a="http://schemas.openxmlformats.org/drawingml/2006/main" noGrp="1"/>
          </p:cNvSpPr>
          <p:nvPr/>
        </p:nvSpPr>
        <p:spPr>
          <a:xfrm xmlns:a="http://schemas.openxmlformats.org/drawingml/2006/main">
            <a:off x="647700" y="5895975"/>
            <a:ext cx="106870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65D65"/>
                </a:solidFill>
                <a:latin typeface="Helvetica Neue"/>
                <a:ea typeface="Helvetica Neue"/>
                <a:cs typeface="Helvetica Neue"/>
              </a:defRPr>
            </a:pPr>
            <a:r>
              <a:rPr sz="1500" b="0">
                <a:solidFill>
                  <a:srgbClr val="465D65"/>
                </a:solidFill>
                <a:latin typeface="Helvetica Neue"/>
                <a:ea typeface="Helvetica Neue"/>
                <a:cs typeface="Helvetica Neue"/>
              </a:rPr>
              <a:t>64 distinct cases: 32 public attacks, 16 authored attacks, 16 benign controls. Inspection only.</a:t>
            </a:r>
          </a:p>
        </p:txBody>
      </p:sp>
    </p:spTree>
    <p:extLst>
      <p:ext uri="{BB962C8B-B14F-4D97-AF65-F5344CB8AC3E}">
        <p14:creationId xmlns:p14="http://schemas.microsoft.com/office/powerpoint/2010/main" val="1131041222"/>
      </p:ext>
    </p:extLst>
  </p:cSld>
</p:sld>
</file>

<file path=ppt/slides/slide11.xml><?xml version="1.0" encoding="utf-8"?>
<p:sld xmlns:p="http://schemas.openxmlformats.org/presentationml/2006/main">
  <p:cSld>
    <p:bg>
      <p:bgPr>
        <a:solidFill xmlns:a="http://schemas.openxmlformats.org/drawingml/2006/main">
          <a:srgbClr val="F5F8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7DCDCF1-D86B-4568-9CD2-D6668BA5BC2C}"/>
              </a:ext>
            </a:extLst>
          </p:cNvPr>
          <p:cNvSpPr>
            <a:spLocks xmlns:a="http://schemas.openxmlformats.org/drawingml/2006/main" noGrp="1"/>
          </p:cNvSpPr>
          <p:nvPr/>
        </p:nvSpPr>
        <p:spPr>
          <a:xfrm xmlns:a="http://schemas.openxmlformats.org/drawingml/2006/main">
            <a:off x="609600" y="438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22328"/>
                </a:solidFill>
                <a:latin typeface="Helvetica Neue"/>
                <a:ea typeface="Helvetica Neue"/>
                <a:cs typeface="Helvetica Neue"/>
              </a:defRPr>
            </a:pPr>
            <a:r>
              <a:rPr sz="3225" b="1">
                <a:solidFill>
                  <a:srgbClr val="122328"/>
                </a:solidFill>
                <a:latin typeface="Helvetica Neue"/>
                <a:ea typeface="Helvetica Neue"/>
                <a:cs typeface="Helvetica Neue"/>
              </a:rPr>
              <a:t>Enterprise adoption needs bounded authority and durable evidence</a:t>
            </a:r>
          </a:p>
        </p:txBody>
      </p:sp>
      <p:sp>
        <p:nvSpPr>
          <p:cNvPr id="2" name="">
            <a:extLst xmlns:a="http://schemas.openxmlformats.org/drawingml/2006/main">
              <a:ext uri="{FF2B5EF4-FFF2-40B4-BE49-F238E27FC236}">
                <a16:creationId xmlns:a16="http://schemas.microsoft.com/office/drawing/2014/main" id="{1BCC2F70-2C0B-4DFC-8B7D-B4698FA9ECC5}"/>
              </a:ext>
            </a:extLst>
          </p:cNvPr>
          <p:cNvSpPr>
            <a:spLocks xmlns:a="http://schemas.openxmlformats.org/drawingml/2006/main" noGrp="1"/>
          </p:cNvSpPr>
          <p:nvPr/>
        </p:nvSpPr>
        <p:spPr>
          <a:xfrm xmlns:a="http://schemas.openxmlformats.org/drawingml/2006/main">
            <a:off x="609600" y="6381750"/>
            <a:ext cx="10629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65D65"/>
                </a:solidFill>
                <a:latin typeface="Helvetica Neue"/>
                <a:ea typeface="Helvetica Neue"/>
                <a:cs typeface="Helvetica Neue"/>
              </a:defRPr>
            </a:pPr>
            <a:r>
              <a:rPr sz="1200" b="0">
                <a:solidFill>
                  <a:srgbClr val="465D65"/>
                </a:solidFill>
                <a:latin typeface="Helvetica Neue"/>
                <a:ea typeface="Helvetica Neue"/>
                <a:cs typeface="Helvetica Neue"/>
              </a:rPr>
              <a:t>Buyer and commercial model are hypotheses. The current hosted prototype has no measured customer ROI.</a:t>
            </a:r>
          </a:p>
        </p:txBody>
      </p:sp>
      <p:sp>
        <p:nvSpPr>
          <p:cNvPr id="3" name="">
            <a:extLst xmlns:a="http://schemas.openxmlformats.org/drawingml/2006/main">
              <a:ext uri="{FF2B5EF4-FFF2-40B4-BE49-F238E27FC236}">
                <a16:creationId xmlns:a16="http://schemas.microsoft.com/office/drawing/2014/main" id="{500D7491-BE59-4C1A-B3FB-9C464758CB29}"/>
              </a:ext>
            </a:extLst>
          </p:cNvPr>
          <p:cNvSpPr>
            <a:spLocks xmlns:a="http://schemas.openxmlformats.org/drawingml/2006/main" noGrp="1"/>
          </p:cNvSpPr>
          <p:nvPr/>
        </p:nvSpPr>
        <p:spPr>
          <a:xfrm xmlns:a="http://schemas.openxmlformats.org/drawingml/2006/main">
            <a:off x="11334750" y="64198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65D65"/>
                </a:solidFill>
                <a:latin typeface="Helvetica Neue"/>
                <a:ea typeface="Helvetica Neue"/>
                <a:cs typeface="Helvetica Neue"/>
              </a:defRPr>
            </a:pPr>
            <a:r>
              <a:rPr sz="1200" b="0">
                <a:solidFill>
                  <a:srgbClr val="465D65"/>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88935C6E-64F5-4DEF-A367-3C4988253C05}"/>
              </a:ext>
            </a:extLst>
          </p:cNvPr>
          <p:cNvSpPr>
            <a:spLocks xmlns:a="http://schemas.openxmlformats.org/drawingml/2006/main" noGrp="1"/>
          </p:cNvSpPr>
          <p:nvPr/>
        </p:nvSpPr>
        <p:spPr>
          <a:xfrm xmlns:a="http://schemas.openxmlformats.org/drawingml/2006/main">
            <a:off x="609600" y="16859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2328"/>
                </a:solidFill>
                <a:latin typeface="Helvetica Neue"/>
                <a:ea typeface="Helvetica Neue"/>
                <a:cs typeface="Helvetica Neue"/>
              </a:defRPr>
            </a:pPr>
            <a:r>
              <a:rPr sz="2325" b="1">
                <a:solidFill>
                  <a:srgbClr val="122328"/>
                </a:solidFill>
                <a:latin typeface="Helvetica Neue"/>
                <a:ea typeface="Helvetica Neue"/>
                <a:cs typeface="Helvetica Neue"/>
              </a:rPr>
              <a:t>Initial buyers</a:t>
            </a:r>
          </a:p>
        </p:txBody>
      </p:sp>
      <p:sp>
        <p:nvSpPr>
          <p:cNvPr id="5" name="">
            <a:extLst xmlns:a="http://schemas.openxmlformats.org/drawingml/2006/main">
              <a:ext uri="{FF2B5EF4-FFF2-40B4-BE49-F238E27FC236}">
                <a16:creationId xmlns:a16="http://schemas.microsoft.com/office/drawing/2014/main" id="{E40CCDC4-E33F-421D-8F27-83A7703E263C}"/>
              </a:ext>
            </a:extLst>
          </p:cNvPr>
          <p:cNvSpPr>
            <a:spLocks xmlns:a="http://schemas.openxmlformats.org/drawingml/2006/main" noGrp="1"/>
          </p:cNvSpPr>
          <p:nvPr/>
        </p:nvSpPr>
        <p:spPr>
          <a:xfrm xmlns:a="http://schemas.openxmlformats.org/drawingml/2006/main">
            <a:off x="609600" y="2343150"/>
            <a:ext cx="50958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22328"/>
                </a:solidFill>
                <a:latin typeface="Helvetica Neue"/>
                <a:ea typeface="Helvetica Neue"/>
                <a:cs typeface="Helvetica Neue"/>
              </a:defRPr>
            </a:pPr>
            <a:r>
              <a:rPr sz="2100" b="0">
                <a:solidFill>
                  <a:srgbClr val="122328"/>
                </a:solidFill>
                <a:latin typeface="Helvetica Neue"/>
                <a:ea typeface="Helvetica Neue"/>
                <a:cs typeface="Helvetica Neue"/>
              </a:rPr>
              <a:t>Application security teams deploying document and tool-using AI workflows.</a:t>
            </a:r>
          </a:p>
        </p:txBody>
      </p:sp>
      <p:sp>
        <p:nvSpPr>
          <p:cNvPr id="6" name="">
            <a:extLst xmlns:a="http://schemas.openxmlformats.org/drawingml/2006/main">
              <a:ext uri="{FF2B5EF4-FFF2-40B4-BE49-F238E27FC236}">
                <a16:creationId xmlns:a16="http://schemas.microsoft.com/office/drawing/2014/main" id="{9A0A57DB-FB71-4214-8F0F-3350BEA8A4EE}"/>
              </a:ext>
            </a:extLst>
          </p:cNvPr>
          <p:cNvSpPr>
            <a:spLocks xmlns:a="http://schemas.openxmlformats.org/drawingml/2006/main" noGrp="1"/>
          </p:cNvSpPr>
          <p:nvPr/>
        </p:nvSpPr>
        <p:spPr>
          <a:xfrm xmlns:a="http://schemas.openxmlformats.org/drawingml/2006/main">
            <a:off x="609600" y="39243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2328"/>
                </a:solidFill>
                <a:latin typeface="Helvetica Neue"/>
                <a:ea typeface="Helvetica Neue"/>
                <a:cs typeface="Helvetica Neue"/>
              </a:defRPr>
            </a:pPr>
            <a:r>
              <a:rPr sz="2325" b="1">
                <a:solidFill>
                  <a:srgbClr val="122328"/>
                </a:solidFill>
                <a:latin typeface="Helvetica Neue"/>
                <a:ea typeface="Helvetica Neue"/>
                <a:cs typeface="Helvetica Neue"/>
              </a:rPr>
              <a:t>Integration model</a:t>
            </a:r>
          </a:p>
        </p:txBody>
      </p:sp>
      <p:sp>
        <p:nvSpPr>
          <p:cNvPr id="7" name="">
            <a:extLst xmlns:a="http://schemas.openxmlformats.org/drawingml/2006/main">
              <a:ext uri="{FF2B5EF4-FFF2-40B4-BE49-F238E27FC236}">
                <a16:creationId xmlns:a16="http://schemas.microsoft.com/office/drawing/2014/main" id="{DB7874BF-659D-4FDB-AF71-84A2D52F312C}"/>
              </a:ext>
            </a:extLst>
          </p:cNvPr>
          <p:cNvSpPr>
            <a:spLocks xmlns:a="http://schemas.openxmlformats.org/drawingml/2006/main" noGrp="1"/>
          </p:cNvSpPr>
          <p:nvPr/>
        </p:nvSpPr>
        <p:spPr>
          <a:xfrm xmlns:a="http://schemas.openxmlformats.org/drawingml/2006/main">
            <a:off x="609600" y="4572000"/>
            <a:ext cx="509587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22328"/>
                </a:solidFill>
                <a:latin typeface="Helvetica Neue"/>
                <a:ea typeface="Helvetica Neue"/>
                <a:cs typeface="Helvetica Neue"/>
              </a:defRPr>
            </a:pPr>
            <a:r>
              <a:rPr sz="2100" b="0">
                <a:solidFill>
                  <a:srgbClr val="122328"/>
                </a:solidFill>
                <a:latin typeface="Helvetica Neue"/>
                <a:ea typeface="Helvetica Neue"/>
                <a:cs typeface="Helvetica Neue"/>
              </a:rPr>
              <a:t>An SDK client delegates generation and tool proposals to the secured hosted runtime.</a:t>
            </a:r>
          </a:p>
        </p:txBody>
      </p:sp>
      <p:sp>
        <p:nvSpPr>
          <p:cNvPr id="8" name="">
            <a:extLst xmlns:a="http://schemas.openxmlformats.org/drawingml/2006/main">
              <a:ext uri="{FF2B5EF4-FFF2-40B4-BE49-F238E27FC236}">
                <a16:creationId xmlns:a16="http://schemas.microsoft.com/office/drawing/2014/main" id="{632F9EE7-EFD0-4FE7-861F-87D51130DF98}"/>
              </a:ext>
            </a:extLst>
          </p:cNvPr>
          <p:cNvSpPr>
            <a:spLocks xmlns:a="http://schemas.openxmlformats.org/drawingml/2006/main" noGrp="1"/>
          </p:cNvSpPr>
          <p:nvPr/>
        </p:nvSpPr>
        <p:spPr>
          <a:xfrm xmlns:a="http://schemas.openxmlformats.org/drawingml/2006/main">
            <a:off x="6638925" y="1685925"/>
            <a:ext cx="4810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2328"/>
                </a:solidFill>
                <a:latin typeface="Helvetica Neue"/>
                <a:ea typeface="Helvetica Neue"/>
                <a:cs typeface="Helvetica Neue"/>
              </a:defRPr>
            </a:pPr>
            <a:r>
              <a:rPr sz="2325" b="1">
                <a:solidFill>
                  <a:srgbClr val="122328"/>
                </a:solidFill>
                <a:latin typeface="Helvetica Neue"/>
                <a:ea typeface="Helvetica Neue"/>
                <a:cs typeface="Helvetica Neue"/>
              </a:rPr>
              <a:t>Current operating limits</a:t>
            </a:r>
          </a:p>
        </p:txBody>
      </p:sp>
      <p:sp>
        <p:nvSpPr>
          <p:cNvPr id="9" name="">
            <a:extLst xmlns:a="http://schemas.openxmlformats.org/drawingml/2006/main">
              <a:ext uri="{FF2B5EF4-FFF2-40B4-BE49-F238E27FC236}">
                <a16:creationId xmlns:a16="http://schemas.microsoft.com/office/drawing/2014/main" id="{8F997E32-D7FD-47AB-A6D9-587A8692C728}"/>
              </a:ext>
            </a:extLst>
          </p:cNvPr>
          <p:cNvSpPr>
            <a:spLocks xmlns:a="http://schemas.openxmlformats.org/drawingml/2006/main" noGrp="1"/>
          </p:cNvSpPr>
          <p:nvPr/>
        </p:nvSpPr>
        <p:spPr>
          <a:xfrm xmlns:a="http://schemas.openxmlformats.org/drawingml/2006/main">
            <a:off x="6638925" y="2371725"/>
            <a:ext cx="4810125"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22328"/>
                </a:solidFill>
                <a:latin typeface="Helvetica Neue"/>
                <a:ea typeface="Helvetica Neue"/>
                <a:cs typeface="Helvetica Neue"/>
              </a:defRPr>
            </a:pPr>
            <a:r>
              <a:rPr sz="1875" b="0">
                <a:solidFill>
                  <a:srgbClr val="122328"/>
                </a:solidFill>
                <a:latin typeface="Helvetica Neue"/>
                <a:ea typeface="Helvetica Neue"/>
                <a:cs typeface="Helvetica Neue"/>
              </a:rPr>
              <a:t>Shared demo authorization</a:t>
            </a:r>
          </a:p>
          <a:p xmlns:a="http://schemas.openxmlformats.org/drawingml/2006/main">
            <a:pPr>
              <a:defRPr sz="1875" b="0">
                <a:solidFill>
                  <a:srgbClr val="122328"/>
                </a:solidFill>
                <a:latin typeface="Helvetica Neue"/>
                <a:ea typeface="Helvetica Neue"/>
                <a:cs typeface="Helvetica Neue"/>
              </a:defRPr>
            </a:pPr>
            <a:r>
              <a:rPr sz="1875" b="0">
                <a:solidFill>
                  <a:srgbClr val="122328"/>
                </a:solidFill>
                <a:latin typeface="Helvetica Neue"/>
                <a:ea typeface="Helvetica Neue"/>
                <a:cs typeface="Helvetica Neue"/>
              </a:rPr>
              <a:t>Temporary bounded history</a:t>
            </a:r>
          </a:p>
          <a:p xmlns:a="http://schemas.openxmlformats.org/drawingml/2006/main">
            <a:pPr>
              <a:defRPr sz="1875" b="0">
                <a:solidFill>
                  <a:srgbClr val="122328"/>
                </a:solidFill>
                <a:latin typeface="Helvetica Neue"/>
                <a:ea typeface="Helvetica Neue"/>
                <a:cs typeface="Helvetica Neue"/>
              </a:defRPr>
            </a:pPr>
            <a:r>
              <a:rPr sz="1875" b="0">
                <a:solidFill>
                  <a:srgbClr val="122328"/>
                </a:solidFill>
                <a:latin typeface="Helvetica Neue"/>
                <a:ea typeface="Helvetica Neue"/>
                <a:cs typeface="Helvetica Neue"/>
              </a:rPr>
              <a:t>Three model turns per workflow</a:t>
            </a:r>
          </a:p>
          <a:p xmlns:a="http://schemas.openxmlformats.org/drawingml/2006/main">
            <a:pPr>
              <a:defRPr sz="1875" b="0">
                <a:solidFill>
                  <a:srgbClr val="122328"/>
                </a:solidFill>
                <a:latin typeface="Helvetica Neue"/>
                <a:ea typeface="Helvetica Neue"/>
                <a:cs typeface="Helvetica Neue"/>
              </a:defRPr>
            </a:pPr>
            <a:r>
              <a:rPr sz="1875" b="0">
                <a:solidFill>
                  <a:srgbClr val="122328"/>
                </a:solidFill>
                <a:latin typeface="Helvetica Neue"/>
                <a:ea typeface="Helvetica Neue"/>
                <a:cs typeface="Helvetica Neue"/>
              </a:rPr>
              <a:t>No live email or purchasing</a:t>
            </a:r>
          </a:p>
        </p:txBody>
      </p:sp>
      <p:sp>
        <p:nvSpPr>
          <p:cNvPr id="10" name="">
            <a:extLst xmlns:a="http://schemas.openxmlformats.org/drawingml/2006/main">
              <a:ext uri="{FF2B5EF4-FFF2-40B4-BE49-F238E27FC236}">
                <a16:creationId xmlns:a16="http://schemas.microsoft.com/office/drawing/2014/main" id="{D4B3FBB8-E531-4486-82A5-BF6D9FD27477}"/>
              </a:ext>
            </a:extLst>
          </p:cNvPr>
          <p:cNvSpPr>
            <a:spLocks xmlns:a="http://schemas.openxmlformats.org/drawingml/2006/main" noGrp="1"/>
          </p:cNvSpPr>
          <p:nvPr/>
        </p:nvSpPr>
        <p:spPr>
          <a:xfrm xmlns:a="http://schemas.openxmlformats.org/drawingml/2006/main">
            <a:off x="6638925" y="4429125"/>
            <a:ext cx="4810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7F6E"/>
                </a:solidFill>
                <a:latin typeface="Helvetica Neue"/>
                <a:ea typeface="Helvetica Neue"/>
                <a:cs typeface="Helvetica Neue"/>
              </a:defRPr>
            </a:pPr>
            <a:r>
              <a:rPr sz="2100" b="1">
                <a:solidFill>
                  <a:srgbClr val="177F6E"/>
                </a:solidFill>
                <a:latin typeface="Helvetica Neue"/>
                <a:ea typeface="Helvetica Neue"/>
                <a:cs typeface="Helvetica Neue"/>
              </a:rPr>
              <a:t>Required before enterprise use</a:t>
            </a:r>
          </a:p>
        </p:txBody>
      </p:sp>
      <p:sp>
        <p:nvSpPr>
          <p:cNvPr id="11" name="">
            <a:extLst xmlns:a="http://schemas.openxmlformats.org/drawingml/2006/main">
              <a:ext uri="{FF2B5EF4-FFF2-40B4-BE49-F238E27FC236}">
                <a16:creationId xmlns:a16="http://schemas.microsoft.com/office/drawing/2014/main" id="{362E869E-9A93-42BD-829B-41170E53D4D8}"/>
              </a:ext>
            </a:extLst>
          </p:cNvPr>
          <p:cNvSpPr>
            <a:spLocks xmlns:a="http://schemas.openxmlformats.org/drawingml/2006/main" noGrp="1"/>
          </p:cNvSpPr>
          <p:nvPr/>
        </p:nvSpPr>
        <p:spPr>
          <a:xfrm xmlns:a="http://schemas.openxmlformats.org/drawingml/2006/main">
            <a:off x="6638925" y="5000625"/>
            <a:ext cx="48101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22328"/>
                </a:solidFill>
                <a:latin typeface="Helvetica Neue"/>
                <a:ea typeface="Helvetica Neue"/>
                <a:cs typeface="Helvetica Neue"/>
              </a:defRPr>
            </a:pPr>
            <a:r>
              <a:rPr sz="1875" b="0">
                <a:solidFill>
                  <a:srgbClr val="122328"/>
                </a:solidFill>
                <a:latin typeface="Helvetica Neue"/>
                <a:ea typeface="Helvetica Neue"/>
                <a:cs typeface="Helvetica Neue"/>
              </a:rPr>
              <a:t>Tenant identity, durable audit, provider availability budgets and broader measured coverage.</a:t>
            </a:r>
          </a:p>
        </p:txBody>
      </p:sp>
    </p:spTree>
    <p:extLst>
      <p:ext uri="{BB962C8B-B14F-4D97-AF65-F5344CB8AC3E}">
        <p14:creationId xmlns:p14="http://schemas.microsoft.com/office/powerpoint/2010/main" val="1363705370"/>
      </p:ext>
    </p:extLst>
  </p:cSld>
</p:sld>
</file>

<file path=ppt/slides/slide12.xml><?xml version="1.0" encoding="utf-8"?>
<p:sld xmlns:p="http://schemas.openxmlformats.org/presentationml/2006/main">
  <p:cSld>
    <p:bg>
      <p:bgPr>
        <a:solidFill xmlns:a="http://schemas.openxmlformats.org/drawingml/2006/main">
          <a:srgbClr val="F5F8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FB662A9-6B65-47E7-BB52-FC1F4F95A08A}"/>
              </a:ext>
            </a:extLst>
          </p:cNvPr>
          <p:cNvSpPr>
            <a:spLocks xmlns:a="http://schemas.openxmlformats.org/drawingml/2006/main" noGrp="1"/>
          </p:cNvSpPr>
          <p:nvPr/>
        </p:nvSpPr>
        <p:spPr>
          <a:xfrm xmlns:a="http://schemas.openxmlformats.org/drawingml/2006/main">
            <a:off x="609600" y="438150"/>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22328"/>
                </a:solidFill>
                <a:latin typeface="Helvetica Neue"/>
                <a:ea typeface="Helvetica Neue"/>
                <a:cs typeface="Helvetica Neue"/>
              </a:defRPr>
            </a:pPr>
            <a:r>
              <a:rPr sz="3225" b="1">
                <a:solidFill>
                  <a:srgbClr val="122328"/>
                </a:solidFill>
                <a:latin typeface="Helvetica Neue"/>
                <a:ea typeface="Helvetica Neue"/>
                <a:cs typeface="Helvetica Neue"/>
              </a:rPr>
              <a:t>Working product, measured evidence, clear next steps</a:t>
            </a:r>
          </a:p>
        </p:txBody>
      </p:sp>
      <p:sp>
        <p:nvSpPr>
          <p:cNvPr id="2" name="">
            <a:extLst xmlns:a="http://schemas.openxmlformats.org/drawingml/2006/main">
              <a:ext uri="{FF2B5EF4-FFF2-40B4-BE49-F238E27FC236}">
                <a16:creationId xmlns:a16="http://schemas.microsoft.com/office/drawing/2014/main" id="{EEED4BC2-53ED-43C5-A79D-15C62DB44147}"/>
              </a:ext>
            </a:extLst>
          </p:cNvPr>
          <p:cNvSpPr>
            <a:spLocks xmlns:a="http://schemas.openxmlformats.org/drawingml/2006/main" noGrp="1"/>
          </p:cNvSpPr>
          <p:nvPr/>
        </p:nvSpPr>
        <p:spPr>
          <a:xfrm xmlns:a="http://schemas.openxmlformats.org/drawingml/2006/main">
            <a:off x="609600" y="6381750"/>
            <a:ext cx="10629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65D65"/>
                </a:solidFill>
                <a:latin typeface="Helvetica Neue"/>
                <a:ea typeface="Helvetica Neue"/>
                <a:cs typeface="Helvetica Neue"/>
              </a:defRPr>
            </a:pPr>
            <a:r>
              <a:rPr sz="1200" b="0">
                <a:solidFill>
                  <a:srgbClr val="465D65"/>
                </a:solidFill>
                <a:latin typeface="Helvetica Neue"/>
                <a:ea typeface="Helvetica Neue"/>
                <a:cs typeface="Helvetica Neue"/>
              </a:rPr>
              <a:t>Product access remains public for walkthrough. Protected operations require approved authorization.</a:t>
            </a:r>
          </a:p>
        </p:txBody>
      </p:sp>
      <p:sp>
        <p:nvSpPr>
          <p:cNvPr id="3" name="">
            <a:extLst xmlns:a="http://schemas.openxmlformats.org/drawingml/2006/main">
              <a:ext uri="{FF2B5EF4-FFF2-40B4-BE49-F238E27FC236}">
                <a16:creationId xmlns:a16="http://schemas.microsoft.com/office/drawing/2014/main" id="{D67C98BE-16B5-4BC9-A164-23FA7DC38BA2}"/>
              </a:ext>
            </a:extLst>
          </p:cNvPr>
          <p:cNvSpPr>
            <a:spLocks xmlns:a="http://schemas.openxmlformats.org/drawingml/2006/main" noGrp="1"/>
          </p:cNvSpPr>
          <p:nvPr/>
        </p:nvSpPr>
        <p:spPr>
          <a:xfrm xmlns:a="http://schemas.openxmlformats.org/drawingml/2006/main">
            <a:off x="11334750" y="64198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65D65"/>
                </a:solidFill>
                <a:latin typeface="Helvetica Neue"/>
                <a:ea typeface="Helvetica Neue"/>
                <a:cs typeface="Helvetica Neue"/>
              </a:defRPr>
            </a:pPr>
            <a:r>
              <a:rPr sz="1200" b="0">
                <a:solidFill>
                  <a:srgbClr val="465D65"/>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5486744F-F4C1-4CE2-AE82-9A9DE0AE9386}"/>
              </a:ext>
            </a:extLst>
          </p:cNvPr>
          <p:cNvSpPr>
            <a:spLocks xmlns:a="http://schemas.openxmlformats.org/drawingml/2006/main" noGrp="1"/>
          </p:cNvSpPr>
          <p:nvPr/>
        </p:nvSpPr>
        <p:spPr>
          <a:xfrm xmlns:a="http://schemas.openxmlformats.org/drawingml/2006/main">
            <a:off x="609600" y="165735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2328"/>
                </a:solidFill>
                <a:latin typeface="Helvetica Neue"/>
                <a:ea typeface="Helvetica Neue"/>
                <a:cs typeface="Helvetica Neue"/>
              </a:defRPr>
            </a:pPr>
            <a:r>
              <a:rPr sz="2325" b="1">
                <a:solidFill>
                  <a:srgbClr val="122328"/>
                </a:solidFill>
                <a:latin typeface="Helvetica Neue"/>
                <a:ea typeface="Helvetica Neue"/>
                <a:cs typeface="Helvetica Neue"/>
              </a:rPr>
              <a:t>TEAM NAME TO CONFIRM</a:t>
            </a:r>
          </a:p>
        </p:txBody>
      </p:sp>
      <p:sp>
        <p:nvSpPr>
          <p:cNvPr id="5" name="">
            <a:extLst xmlns:a="http://schemas.openxmlformats.org/drawingml/2006/main">
              <a:ext uri="{FF2B5EF4-FFF2-40B4-BE49-F238E27FC236}">
                <a16:creationId xmlns:a16="http://schemas.microsoft.com/office/drawing/2014/main" id="{24F02ED8-0F13-42CA-9C9C-F7935E73D837}"/>
              </a:ext>
            </a:extLst>
          </p:cNvPr>
          <p:cNvSpPr>
            <a:spLocks xmlns:a="http://schemas.openxmlformats.org/drawingml/2006/main" noGrp="1"/>
          </p:cNvSpPr>
          <p:nvPr/>
        </p:nvSpPr>
        <p:spPr>
          <a:xfrm xmlns:a="http://schemas.openxmlformats.org/drawingml/2006/main">
            <a:off x="609600" y="22383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465D65"/>
                </a:solidFill>
                <a:latin typeface="Helvetica Neue"/>
                <a:ea typeface="Helvetica Neue"/>
                <a:cs typeface="Helvetica Neue"/>
              </a:defRPr>
            </a:pPr>
            <a:r>
              <a:rPr sz="1725" b="0">
                <a:solidFill>
                  <a:srgbClr val="465D65"/>
                </a:solidFill>
                <a:latin typeface="Helvetica Neue"/>
                <a:ea typeface="Helvetica Neue"/>
                <a:cs typeface="Helvetica Neue"/>
              </a:rPr>
              <a:t>MEMBERS AND CONTRIBUTIONS TO CONFIRM</a:t>
            </a:r>
          </a:p>
        </p:txBody>
      </p:sp>
      <p:sp>
        <p:nvSpPr>
          <p:cNvPr id="6" name="">
            <a:extLst xmlns:a="http://schemas.openxmlformats.org/drawingml/2006/main">
              <a:ext uri="{FF2B5EF4-FFF2-40B4-BE49-F238E27FC236}">
                <a16:creationId xmlns:a16="http://schemas.microsoft.com/office/drawing/2014/main" id="{C84E0034-92AF-4465-98E1-6D08F624108A}"/>
              </a:ext>
            </a:extLst>
          </p:cNvPr>
          <p:cNvSpPr>
            <a:spLocks xmlns:a="http://schemas.openxmlformats.org/drawingml/2006/main" noGrp="1"/>
          </p:cNvSpPr>
          <p:nvPr/>
        </p:nvSpPr>
        <p:spPr>
          <a:xfrm xmlns:a="http://schemas.openxmlformats.org/drawingml/2006/main">
            <a:off x="609600" y="3381375"/>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7F6E"/>
                </a:solidFill>
                <a:latin typeface="Helvetica Neue"/>
                <a:ea typeface="Helvetica Neue"/>
                <a:cs typeface="Helvetica Neue"/>
              </a:defRPr>
            </a:pPr>
            <a:r>
              <a:rPr sz="2175" b="1">
                <a:solidFill>
                  <a:srgbClr val="177F6E"/>
                </a:solidFill>
                <a:latin typeface="Helvetica Neue"/>
                <a:ea typeface="Helvetica Neue"/>
                <a:cs typeface="Helvetica Neue"/>
              </a:rPr>
              <a:t>Next development priorities</a:t>
            </a:r>
          </a:p>
        </p:txBody>
      </p:sp>
      <p:sp>
        <p:nvSpPr>
          <p:cNvPr id="7" name="">
            <a:extLst xmlns:a="http://schemas.openxmlformats.org/drawingml/2006/main">
              <a:ext uri="{FF2B5EF4-FFF2-40B4-BE49-F238E27FC236}">
                <a16:creationId xmlns:a16="http://schemas.microsoft.com/office/drawing/2014/main" id="{F69C4345-57F3-40C1-9C8C-EE64D7B48652}"/>
              </a:ext>
            </a:extLst>
          </p:cNvPr>
          <p:cNvSpPr>
            <a:spLocks xmlns:a="http://schemas.openxmlformats.org/drawingml/2006/main" noGrp="1"/>
          </p:cNvSpPr>
          <p:nvPr/>
        </p:nvSpPr>
        <p:spPr>
          <a:xfrm xmlns:a="http://schemas.openxmlformats.org/drawingml/2006/main">
            <a:off x="609600" y="4029075"/>
            <a:ext cx="5238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22328"/>
                </a:solidFill>
                <a:latin typeface="Helvetica Neue"/>
                <a:ea typeface="Helvetica Neue"/>
                <a:cs typeface="Helvetica Neue"/>
              </a:defRPr>
            </a:pPr>
            <a:r>
              <a:rPr sz="2025" b="0">
                <a:solidFill>
                  <a:srgbClr val="122328"/>
                </a:solidFill>
                <a:latin typeface="Helvetica Neue"/>
                <a:ea typeface="Helvetica Neue"/>
                <a:cs typeface="Helvetica Neue"/>
              </a:rPr>
              <a:t>Improve routing and benign handling</a:t>
            </a:r>
          </a:p>
          <a:p xmlns:a="http://schemas.openxmlformats.org/drawingml/2006/main">
            <a:pPr>
              <a:defRPr sz="2025" b="0">
                <a:solidFill>
                  <a:srgbClr val="122328"/>
                </a:solidFill>
                <a:latin typeface="Helvetica Neue"/>
                <a:ea typeface="Helvetica Neue"/>
                <a:cs typeface="Helvetica Neue"/>
              </a:defRPr>
            </a:pPr>
            <a:r>
              <a:rPr sz="2025" b="0">
                <a:solidFill>
                  <a:srgbClr val="122328"/>
                </a:solidFill>
                <a:latin typeface="Helvetica Neue"/>
                <a:ea typeface="Helvetica Neue"/>
                <a:cs typeface="Helvetica Neue"/>
              </a:rPr>
              <a:t>Retest on a fresh independent corpus</a:t>
            </a:r>
          </a:p>
          <a:p xmlns:a="http://schemas.openxmlformats.org/drawingml/2006/main">
            <a:pPr>
              <a:defRPr sz="2025" b="0">
                <a:solidFill>
                  <a:srgbClr val="122328"/>
                </a:solidFill>
                <a:latin typeface="Helvetica Neue"/>
                <a:ea typeface="Helvetica Neue"/>
                <a:cs typeface="Helvetica Neue"/>
              </a:defRPr>
            </a:pPr>
            <a:r>
              <a:rPr sz="2025" b="0">
                <a:solidFill>
                  <a:srgbClr val="122328"/>
                </a:solidFill>
                <a:latin typeface="Helvetica Neue"/>
                <a:ea typeface="Helvetica Neue"/>
                <a:cs typeface="Helvetica Neue"/>
              </a:rPr>
              <a:t>Add durable audit and tenant identity</a:t>
            </a:r>
          </a:p>
        </p:txBody>
      </p:sp>
      <p:sp>
        <p:nvSpPr>
          <p:cNvPr id="8" name="">
            <a:extLst xmlns:a="http://schemas.openxmlformats.org/drawingml/2006/main">
              <a:ext uri="{FF2B5EF4-FFF2-40B4-BE49-F238E27FC236}">
                <a16:creationId xmlns:a16="http://schemas.microsoft.com/office/drawing/2014/main" id="{69120252-AB7A-44AC-9170-9890F1E6959F}"/>
              </a:ext>
            </a:extLst>
          </p:cNvPr>
          <p:cNvSpPr>
            <a:spLocks xmlns:a="http://schemas.openxmlformats.org/drawingml/2006/main" noGrp="1"/>
          </p:cNvSpPr>
          <p:nvPr/>
        </p:nvSpPr>
        <p:spPr>
          <a:xfrm xmlns:a="http://schemas.openxmlformats.org/drawingml/2006/main">
            <a:off x="6629400" y="3381375"/>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22328"/>
                </a:solidFill>
                <a:latin typeface="Helvetica Neue"/>
                <a:ea typeface="Helvetica Neue"/>
                <a:cs typeface="Helvetica Neue"/>
              </a:defRPr>
            </a:pPr>
            <a:r>
              <a:rPr sz="1950" b="1">
                <a:solidFill>
                  <a:srgbClr val="122328"/>
                </a:solidFill>
                <a:latin typeface="Helvetica Neue"/>
                <a:ea typeface="Helvetica Neue"/>
                <a:cs typeface="Helvetica Neue"/>
              </a:rPr>
              <a:t>Product</a:t>
            </a:r>
          </a:p>
        </p:txBody>
      </p:sp>
      <p:sp>
        <p:nvSpPr>
          <p:cNvPr id="9" name="">
            <a:extLst xmlns:a="http://schemas.openxmlformats.org/drawingml/2006/main">
              <a:ext uri="{FF2B5EF4-FFF2-40B4-BE49-F238E27FC236}">
                <a16:creationId xmlns:a16="http://schemas.microsoft.com/office/drawing/2014/main" id="{7AB3BD76-3229-411F-AFBA-FA95DF27E76C}"/>
              </a:ext>
            </a:extLst>
          </p:cNvPr>
          <p:cNvSpPr>
            <a:spLocks xmlns:a="http://schemas.openxmlformats.org/drawingml/2006/main" noGrp="1"/>
          </p:cNvSpPr>
          <p:nvPr/>
        </p:nvSpPr>
        <p:spPr>
          <a:xfrm xmlns:a="http://schemas.openxmlformats.org/drawingml/2006/main">
            <a:off x="6629400" y="3886200"/>
            <a:ext cx="4905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7F6E"/>
                </a:solidFill>
                <a:latin typeface="Helvetica Neue"/>
                <a:ea typeface="Helvetica Neue"/>
                <a:cs typeface="Helvetica Neue"/>
              </a:defRPr>
            </a:pPr>
            <a:r>
              <a:rPr sz="1875" b="1">
                <a:solidFill>
                  <a:srgbClr val="177F6E"/>
                </a:solidFill>
                <a:latin typeface="Helvetica Neue"/>
                <a:ea typeface="Helvetica Neue"/>
                <a:cs typeface="Helvetica Neue"/>
              </a:rPr>
              <a:t>agent-trust-firewall.vercel.app</a:t>
            </a:r>
          </a:p>
        </p:txBody>
      </p:sp>
      <p:sp>
        <p:nvSpPr>
          <p:cNvPr id="10" name="">
            <a:extLst xmlns:a="http://schemas.openxmlformats.org/drawingml/2006/main">
              <a:ext uri="{FF2B5EF4-FFF2-40B4-BE49-F238E27FC236}">
                <a16:creationId xmlns:a16="http://schemas.microsoft.com/office/drawing/2014/main" id="{BD7A961E-8E78-42E8-9482-F4E100E34CC6}"/>
              </a:ext>
            </a:extLst>
          </p:cNvPr>
          <p:cNvSpPr>
            <a:spLocks xmlns:a="http://schemas.openxmlformats.org/drawingml/2006/main" noGrp="1"/>
          </p:cNvSpPr>
          <p:nvPr/>
        </p:nvSpPr>
        <p:spPr>
          <a:xfrm xmlns:a="http://schemas.openxmlformats.org/drawingml/2006/main">
            <a:off x="6629400" y="476250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22328"/>
                </a:solidFill>
                <a:latin typeface="Helvetica Neue"/>
                <a:ea typeface="Helvetica Neue"/>
                <a:cs typeface="Helvetica Neue"/>
              </a:defRPr>
            </a:pPr>
            <a:r>
              <a:rPr sz="1950" b="1">
                <a:solidFill>
                  <a:srgbClr val="122328"/>
                </a:solidFill>
                <a:latin typeface="Helvetica Neue"/>
                <a:ea typeface="Helvetica Neue"/>
                <a:cs typeface="Helvetica Neue"/>
              </a:rPr>
              <a:t>Repository</a:t>
            </a:r>
          </a:p>
        </p:txBody>
      </p:sp>
      <p:sp>
        <p:nvSpPr>
          <p:cNvPr id="11" name="">
            <a:extLst xmlns:a="http://schemas.openxmlformats.org/drawingml/2006/main">
              <a:ext uri="{FF2B5EF4-FFF2-40B4-BE49-F238E27FC236}">
                <a16:creationId xmlns:a16="http://schemas.microsoft.com/office/drawing/2014/main" id="{5353B747-97D2-4B81-BAE1-E9FF08016D86}"/>
              </a:ext>
            </a:extLst>
          </p:cNvPr>
          <p:cNvSpPr>
            <a:spLocks xmlns:a="http://schemas.openxmlformats.org/drawingml/2006/main" noGrp="1"/>
          </p:cNvSpPr>
          <p:nvPr/>
        </p:nvSpPr>
        <p:spPr>
          <a:xfrm xmlns:a="http://schemas.openxmlformats.org/drawingml/2006/main">
            <a:off x="6629400" y="5238750"/>
            <a:ext cx="4905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7F6E"/>
                </a:solidFill>
                <a:latin typeface="Helvetica Neue"/>
                <a:ea typeface="Helvetica Neue"/>
                <a:cs typeface="Helvetica Neue"/>
              </a:defRPr>
            </a:pPr>
            <a:r>
              <a:rPr sz="1875" b="1">
                <a:solidFill>
                  <a:srgbClr val="177F6E"/>
                </a:solidFill>
                <a:latin typeface="Helvetica Neue"/>
                <a:ea typeface="Helvetica Neue"/>
                <a:cs typeface="Helvetica Neue"/>
              </a:rPr>
              <a:t>github.com/yalnizcurt/unstopET</a:t>
            </a:r>
          </a:p>
        </p:txBody>
      </p:sp>
    </p:spTree>
    <p:extLst>
      <p:ext uri="{BB962C8B-B14F-4D97-AF65-F5344CB8AC3E}">
        <p14:creationId xmlns:p14="http://schemas.microsoft.com/office/powerpoint/2010/main" val="10174324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2026-10-11T16:56:57.6010000Z</dcterms:created>
  <dcterms:modified xsi:type="dcterms:W3CDTF">2026-10-11T16:56:57.6010000Z</dcterms:modified>
</coreProperties>
</file>